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4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5569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E17"/>
        </a:solidFill>
        <a:effectLst/>
      </p:bgPr>
    </p:bg>
    <p:spTree>
      <p:nvGrpSpPr>
        <p:cNvPr id="1" name=""/>
        <p:cNvGrpSpPr/>
        <p:nvPr/>
      </p:nvGrpSpPr>
      <p:grpSpPr>
        <a:xfrm>
          <a:off x="0" y="0"/>
          <a:ext cx="0" cy="0"/>
          <a:chOff x="0" y="0"/>
          <a:chExt cx="0" cy="0"/>
        </a:xfrm>
      </p:grpSpPr>
      <p:sp>
        <p:nvSpPr>
          <p:cNvPr id="2" name="Shape 0"/>
          <p:cNvSpPr/>
          <p:nvPr/>
        </p:nvSpPr>
        <p:spPr>
          <a:xfrm>
            <a:off x="731520" y="1143000"/>
            <a:ext cx="73152" cy="4389120"/>
          </a:xfrm>
          <a:prstGeom prst="rect">
            <a:avLst/>
          </a:prstGeom>
          <a:solidFill>
            <a:srgbClr val="FF7E5F"/>
          </a:solidFill>
          <a:ln/>
        </p:spPr>
      </p:sp>
      <p:sp>
        <p:nvSpPr>
          <p:cNvPr id="3" name="Text 1"/>
          <p:cNvSpPr/>
          <p:nvPr/>
        </p:nvSpPr>
        <p:spPr>
          <a:xfrm>
            <a:off x="1097280" y="1371600"/>
            <a:ext cx="9144000" cy="274320"/>
          </a:xfrm>
          <a:prstGeom prst="rect">
            <a:avLst/>
          </a:prstGeom>
          <a:noFill/>
          <a:ln/>
        </p:spPr>
        <p:txBody>
          <a:bodyPr wrap="square" rtlCol="0" anchor="ctr"/>
          <a:lstStyle/>
          <a:p>
            <a:pPr marL="0" indent="0">
              <a:buNone/>
            </a:pPr>
            <a:r>
              <a:rPr lang="en-US" sz="1200" b="1" kern="0" spc="300" dirty="0">
                <a:solidFill>
                  <a:srgbClr val="FF7E5F"/>
                </a:solidFill>
                <a:latin typeface="Trebuchet MS" pitchFamily="34" charset="0"/>
                <a:ea typeface="Trebuchet MS" pitchFamily="34" charset="-122"/>
                <a:cs typeface="Trebuchet MS" pitchFamily="34" charset="-120"/>
              </a:rPr>
              <a:t>REGRESSION OPEN CAPSTONE PROJECT</a:t>
            </a:r>
            <a:endParaRPr lang="en-US" sz="1200" dirty="0"/>
          </a:p>
        </p:txBody>
      </p:sp>
      <p:sp>
        <p:nvSpPr>
          <p:cNvPr id="4" name="Text 2"/>
          <p:cNvSpPr/>
          <p:nvPr/>
        </p:nvSpPr>
        <p:spPr>
          <a:xfrm>
            <a:off x="1097280" y="1645920"/>
            <a:ext cx="9144000" cy="1463040"/>
          </a:xfrm>
          <a:prstGeom prst="rect">
            <a:avLst/>
          </a:prstGeom>
          <a:noFill/>
          <a:ln/>
        </p:spPr>
        <p:txBody>
          <a:bodyPr wrap="square" rtlCol="0" anchor="ctr"/>
          <a:lstStyle/>
          <a:p>
            <a:pPr marL="0" indent="0">
              <a:buNone/>
            </a:pPr>
            <a:r>
              <a:rPr lang="en-US" sz="4400" b="1" dirty="0">
                <a:solidFill>
                  <a:srgbClr val="FFFFFE"/>
                </a:solidFill>
                <a:latin typeface="Trebuchet MS" pitchFamily="34" charset="0"/>
                <a:ea typeface="Trebuchet MS" pitchFamily="34" charset="-122"/>
                <a:cs typeface="Trebuchet MS" pitchFamily="34" charset="-120"/>
              </a:rPr>
              <a:t>House Price Prediction</a:t>
            </a:r>
            <a:endParaRPr lang="en-US" sz="4400" dirty="0"/>
          </a:p>
          <a:p>
            <a:pPr marL="0" indent="0">
              <a:buNone/>
            </a:pPr>
            <a:r>
              <a:rPr lang="en-US" sz="4400" b="1" dirty="0">
                <a:solidFill>
                  <a:srgbClr val="FFFFFE"/>
                </a:solidFill>
                <a:latin typeface="Trebuchet MS" pitchFamily="34" charset="0"/>
                <a:ea typeface="Trebuchet MS" pitchFamily="34" charset="-122"/>
                <a:cs typeface="Trebuchet MS" pitchFamily="34" charset="-120"/>
              </a:rPr>
              <a:t>A Regression Approach</a:t>
            </a:r>
            <a:endParaRPr lang="en-US" sz="4400" dirty="0"/>
          </a:p>
        </p:txBody>
      </p:sp>
      <p:sp>
        <p:nvSpPr>
          <p:cNvPr id="5" name="Text 3"/>
          <p:cNvSpPr/>
          <p:nvPr/>
        </p:nvSpPr>
        <p:spPr>
          <a:xfrm>
            <a:off x="1097280" y="3291840"/>
            <a:ext cx="9144000" cy="365760"/>
          </a:xfrm>
          <a:prstGeom prst="rect">
            <a:avLst/>
          </a:prstGeom>
          <a:noFill/>
          <a:ln/>
        </p:spPr>
        <p:txBody>
          <a:bodyPr wrap="square" rtlCol="0" anchor="ctr"/>
          <a:lstStyle/>
          <a:p>
            <a:pPr marL="0" indent="0">
              <a:buNone/>
            </a:pPr>
            <a:r>
              <a:rPr lang="en-US" sz="1600" dirty="0">
                <a:solidFill>
                  <a:srgbClr val="E2E2EC"/>
                </a:solidFill>
                <a:latin typeface="Segoe UI" pitchFamily="34" charset="0"/>
                <a:ea typeface="Segoe UI" pitchFamily="34" charset="-122"/>
                <a:cs typeface="Segoe UI" pitchFamily="34" charset="-120"/>
              </a:rPr>
              <a:t>AI &amp; Data Science Basics — Module Open Capstone</a:t>
            </a:r>
            <a:endParaRPr lang="en-US" sz="1600" dirty="0"/>
          </a:p>
        </p:txBody>
      </p:sp>
      <p:sp>
        <p:nvSpPr>
          <p:cNvPr id="6" name="Shape 4"/>
          <p:cNvSpPr/>
          <p:nvPr/>
        </p:nvSpPr>
        <p:spPr>
          <a:xfrm>
            <a:off x="1097280" y="3840480"/>
            <a:ext cx="3657600" cy="18288"/>
          </a:xfrm>
          <a:prstGeom prst="rect">
            <a:avLst/>
          </a:prstGeom>
          <a:solidFill>
            <a:srgbClr val="FF7E5F"/>
          </a:solidFill>
          <a:ln/>
        </p:spPr>
      </p:sp>
      <p:sp>
        <p:nvSpPr>
          <p:cNvPr id="7" name="Text 5"/>
          <p:cNvSpPr/>
          <p:nvPr/>
        </p:nvSpPr>
        <p:spPr>
          <a:xfrm>
            <a:off x="6583680" y="4114800"/>
            <a:ext cx="5029200" cy="1828800"/>
          </a:xfrm>
          <a:prstGeom prst="rect">
            <a:avLst/>
          </a:prstGeom>
          <a:noFill/>
          <a:ln/>
        </p:spPr>
        <p:txBody>
          <a:bodyPr wrap="square" rtlCol="0" anchor="t"/>
          <a:lstStyle/>
          <a:p>
            <a:pPr marL="0" indent="0" algn="r">
              <a:lnSpc>
                <a:spcPts val="1800"/>
              </a:lnSpc>
              <a:buNone/>
            </a:pPr>
            <a:r>
              <a:rPr lang="en-US" sz="1200" b="1" dirty="0">
                <a:solidFill>
                  <a:srgbClr val="A7A9BE"/>
                </a:solidFill>
                <a:latin typeface="Segoe UI" pitchFamily="34" charset="0"/>
                <a:ea typeface="Segoe UI" pitchFamily="34" charset="-122"/>
                <a:cs typeface="Segoe UI" pitchFamily="34" charset="-120"/>
              </a:rPr>
              <a:t>Team Members: </a:t>
            </a:r>
            <a:r>
              <a:rPr lang="en-US" sz="1200" dirty="0">
                <a:solidFill>
                  <a:srgbClr val="FFFFFE"/>
                </a:solidFill>
                <a:latin typeface="Segoe UI" pitchFamily="34" charset="0"/>
                <a:ea typeface="Segoe UI" pitchFamily="34" charset="-122"/>
                <a:cs typeface="Segoe UI" pitchFamily="34" charset="-120"/>
              </a:rPr>
              <a:t>Abdelmoghit El </a:t>
            </a:r>
            <a:r>
              <a:rPr lang="en-US" sz="1200" dirty="0" err="1">
                <a:solidFill>
                  <a:srgbClr val="FFFFFE"/>
                </a:solidFill>
                <a:latin typeface="Segoe UI" pitchFamily="34" charset="0"/>
                <a:ea typeface="Segoe UI" pitchFamily="34" charset="-122"/>
                <a:cs typeface="Segoe UI" pitchFamily="34" charset="-120"/>
              </a:rPr>
              <a:t>Asraoui</a:t>
            </a:r>
            <a:r>
              <a:rPr lang="en-US" sz="1200" dirty="0">
                <a:solidFill>
                  <a:srgbClr val="FFFFFE"/>
                </a:solidFill>
                <a:latin typeface="Segoe UI" pitchFamily="34" charset="0"/>
                <a:ea typeface="Segoe UI" pitchFamily="34" charset="-122"/>
                <a:cs typeface="Segoe UI" pitchFamily="34" charset="-120"/>
              </a:rPr>
              <a:t> &amp; Mohamed Ben </a:t>
            </a:r>
            <a:r>
              <a:rPr lang="en-US" sz="1200" dirty="0" err="1">
                <a:solidFill>
                  <a:srgbClr val="FFFFFE"/>
                </a:solidFill>
                <a:latin typeface="Segoe UI" pitchFamily="34" charset="0"/>
                <a:ea typeface="Segoe UI" pitchFamily="34" charset="-122"/>
                <a:cs typeface="Segoe UI" pitchFamily="34" charset="-120"/>
              </a:rPr>
              <a:t>Mouh</a:t>
            </a:r>
            <a:r>
              <a:rPr lang="en-US" sz="1200" dirty="0">
                <a:solidFill>
                  <a:srgbClr val="FFFFFE"/>
                </a:solidFill>
                <a:latin typeface="Segoe UI" pitchFamily="34" charset="0"/>
                <a:ea typeface="Segoe UI" pitchFamily="34" charset="-122"/>
                <a:cs typeface="Segoe UI" pitchFamily="34" charset="-120"/>
              </a:rPr>
              <a:t>
</a:t>
            </a:r>
            <a:r>
              <a:rPr lang="en-US" sz="1200" b="1" dirty="0">
                <a:solidFill>
                  <a:srgbClr val="A7A9BE"/>
                </a:solidFill>
                <a:latin typeface="Segoe UI" pitchFamily="34" charset="0"/>
                <a:ea typeface="Segoe UI" pitchFamily="34" charset="-122"/>
                <a:cs typeface="Segoe UI" pitchFamily="34" charset="-120"/>
              </a:rPr>
              <a:t>Department: </a:t>
            </a:r>
            <a:r>
              <a:rPr lang="en-US" sz="1200" dirty="0">
                <a:solidFill>
                  <a:srgbClr val="FFFFFE"/>
                </a:solidFill>
                <a:latin typeface="Segoe UI" pitchFamily="34" charset="0"/>
                <a:ea typeface="Segoe UI" pitchFamily="34" charset="-122"/>
                <a:cs typeface="Segoe UI" pitchFamily="34" charset="-120"/>
              </a:rPr>
              <a:t>MIG — EHTP | Semester S4
</a:t>
            </a:r>
            <a:r>
              <a:rPr lang="en-US" sz="1200" b="1" dirty="0">
                <a:solidFill>
                  <a:srgbClr val="A7A9BE"/>
                </a:solidFill>
                <a:latin typeface="Segoe UI" pitchFamily="34" charset="0"/>
                <a:ea typeface="Segoe UI" pitchFamily="34" charset="-122"/>
                <a:cs typeface="Segoe UI" pitchFamily="34" charset="-120"/>
              </a:rPr>
              <a:t>Instructor: </a:t>
            </a:r>
            <a:r>
              <a:rPr lang="en-US" sz="1200" dirty="0">
                <a:solidFill>
                  <a:srgbClr val="FFFFFE"/>
                </a:solidFill>
                <a:latin typeface="Segoe UI" pitchFamily="34" charset="0"/>
                <a:ea typeface="Segoe UI" pitchFamily="34" charset="-122"/>
                <a:cs typeface="Segoe UI" pitchFamily="34" charset="-120"/>
              </a:rPr>
              <a:t>Dr. Rym Nassih
</a:t>
            </a:r>
            <a:r>
              <a:rPr lang="en-US" sz="1200" b="1" dirty="0">
                <a:solidFill>
                  <a:srgbClr val="A7A9BE"/>
                </a:solidFill>
                <a:latin typeface="Segoe UI" pitchFamily="34" charset="0"/>
                <a:ea typeface="Segoe UI" pitchFamily="34" charset="-122"/>
                <a:cs typeface="Segoe UI" pitchFamily="34" charset="-120"/>
              </a:rPr>
              <a:t>Date: </a:t>
            </a:r>
            <a:r>
              <a:rPr lang="en-US" sz="1200" dirty="0">
                <a:solidFill>
                  <a:srgbClr val="FF7E5F"/>
                </a:solidFill>
                <a:latin typeface="Segoe UI" pitchFamily="34" charset="0"/>
                <a:ea typeface="Segoe UI" pitchFamily="34" charset="-122"/>
                <a:cs typeface="Segoe UI" pitchFamily="34" charset="-120"/>
              </a:rPr>
              <a:t>June 2025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Problem Framing &amp; AI Context Note</a:t>
            </a:r>
            <a:endParaRPr lang="en-US" sz="2400" dirty="0"/>
          </a:p>
        </p:txBody>
      </p:sp>
      <p:sp>
        <p:nvSpPr>
          <p:cNvPr id="4" name="Shape 2"/>
          <p:cNvSpPr/>
          <p:nvPr/>
        </p:nvSpPr>
        <p:spPr>
          <a:xfrm>
            <a:off x="548640" y="1051560"/>
            <a:ext cx="11064240" cy="18288"/>
          </a:xfrm>
          <a:prstGeom prst="rect">
            <a:avLst/>
          </a:prstGeom>
          <a:solidFill>
            <a:srgbClr val="FF7E5F"/>
          </a:solidFill>
          <a:ln/>
        </p:spPr>
      </p:sp>
      <p:sp>
        <p:nvSpPr>
          <p:cNvPr id="5" name="Text 3"/>
          <p:cNvSpPr/>
          <p:nvPr/>
        </p:nvSpPr>
        <p:spPr>
          <a:xfrm>
            <a:off x="548640" y="1371600"/>
            <a:ext cx="5120640" cy="274320"/>
          </a:xfrm>
          <a:prstGeom prst="rect">
            <a:avLst/>
          </a:prstGeom>
          <a:noFill/>
          <a:ln/>
        </p:spPr>
        <p:txBody>
          <a:bodyPr wrap="square" rtlCol="0" anchor="ctr"/>
          <a:lstStyle/>
          <a:p>
            <a:pPr marL="0" indent="0">
              <a:buNone/>
            </a:pPr>
            <a:r>
              <a:rPr lang="en-US" sz="1300" b="1" dirty="0">
                <a:solidFill>
                  <a:srgbClr val="FF7E5F"/>
                </a:solidFill>
                <a:latin typeface="Trebuchet MS" pitchFamily="34" charset="0"/>
                <a:ea typeface="Trebuchet MS" pitchFamily="34" charset="-122"/>
                <a:cs typeface="Trebuchet MS" pitchFamily="34" charset="-120"/>
              </a:rPr>
              <a:t>THE PROBLEM &amp; BUSINESS MOTIVATION</a:t>
            </a:r>
            <a:endParaRPr lang="en-US" sz="1300" dirty="0"/>
          </a:p>
        </p:txBody>
      </p:sp>
      <p:sp>
        <p:nvSpPr>
          <p:cNvPr id="6" name="Text 4"/>
          <p:cNvSpPr/>
          <p:nvPr/>
        </p:nvSpPr>
        <p:spPr>
          <a:xfrm>
            <a:off x="548640" y="1828800"/>
            <a:ext cx="5120640" cy="3474720"/>
          </a:xfrm>
          <a:prstGeom prst="rect">
            <a:avLst/>
          </a:prstGeom>
          <a:noFill/>
          <a:ln/>
        </p:spPr>
        <p:txBody>
          <a:bodyPr wrap="square" rtlCol="0" anchor="t"/>
          <a:lstStyle/>
          <a:p>
            <a:pPr marL="0" indent="0">
              <a:lnSpc>
                <a:spcPts val="1400"/>
              </a:lnSpc>
              <a:buNone/>
            </a:pPr>
            <a:r>
              <a:rPr lang="en-US" sz="1100" b="1" dirty="0">
                <a:solidFill>
                  <a:srgbClr val="FF7E5F"/>
                </a:solidFill>
                <a:latin typeface="Segoe UI" pitchFamily="34" charset="0"/>
                <a:ea typeface="Segoe UI" pitchFamily="34" charset="-122"/>
                <a:cs typeface="Segoe UI" pitchFamily="34" charset="-120"/>
              </a:rPr>
              <a:t>• Fair Market Value:
</a:t>
            </a:r>
            <a:r>
              <a:rPr lang="en-US" sz="1100" dirty="0">
                <a:solidFill>
                  <a:srgbClr val="FFFFFE"/>
                </a:solidFill>
                <a:latin typeface="Segoe UI" pitchFamily="34" charset="0"/>
                <a:ea typeface="Segoe UI" pitchFamily="34" charset="-122"/>
                <a:cs typeface="Segoe UI" pitchFamily="34" charset="-120"/>
              </a:rPr>
              <a:t>Determining residential price is highly consequential. A mispriced listing sits unsold or leaves money on the table.
</a:t>
            </a:r>
            <a:r>
              <a:rPr lang="en-US" sz="1100" b="1" dirty="0">
                <a:solidFill>
                  <a:srgbClr val="FF7E5F"/>
                </a:solidFill>
                <a:latin typeface="Segoe UI" pitchFamily="34" charset="0"/>
                <a:ea typeface="Segoe UI" pitchFamily="34" charset="-122"/>
                <a:cs typeface="Segoe UI" pitchFamily="34" charset="-120"/>
              </a:rPr>
              <a:t>• Appraisal Costs:
</a:t>
            </a:r>
            <a:r>
              <a:rPr lang="en-US" sz="1100" dirty="0">
                <a:solidFill>
                  <a:srgbClr val="FFFFFE"/>
                </a:solidFill>
                <a:latin typeface="Segoe UI" pitchFamily="34" charset="0"/>
                <a:ea typeface="Segoe UI" pitchFamily="34" charset="-122"/>
                <a:cs typeface="Segoe UI" pitchFamily="34" charset="-120"/>
              </a:rPr>
              <a:t>Traditional methods (manual appraisals or comparative audits) are slow, subjective, and cost hundreds of dollars per report.
</a:t>
            </a:r>
            <a:r>
              <a:rPr lang="en-US" sz="1100" b="1" dirty="0">
                <a:solidFill>
                  <a:srgbClr val="FF7E5F"/>
                </a:solidFill>
                <a:latin typeface="Segoe UI" pitchFamily="34" charset="0"/>
                <a:ea typeface="Segoe UI" pitchFamily="34" charset="-122"/>
                <a:cs typeface="Segoe UI" pitchFamily="34" charset="-120"/>
              </a:rPr>
              <a:t>• Data-Driven Screening:
</a:t>
            </a:r>
            <a:r>
              <a:rPr lang="en-US" sz="1100" dirty="0">
                <a:solidFill>
                  <a:srgbClr val="FFFFFE"/>
                </a:solidFill>
                <a:latin typeface="Segoe UI" pitchFamily="34" charset="0"/>
                <a:ea typeface="Segoe UI" pitchFamily="34" charset="-122"/>
                <a:cs typeface="Segoe UI" pitchFamily="34" charset="-120"/>
              </a:rPr>
              <a:t>We build a regression model using 79 property features from Ames, Iowa to provide agents with rapid, objective price estimates.</a:t>
            </a:r>
            <a:endParaRPr lang="en-US" sz="1100" dirty="0"/>
          </a:p>
        </p:txBody>
      </p:sp>
      <p:sp>
        <p:nvSpPr>
          <p:cNvPr id="7" name="Shape 5"/>
          <p:cNvSpPr/>
          <p:nvPr/>
        </p:nvSpPr>
        <p:spPr>
          <a:xfrm>
            <a:off x="6035040" y="1371600"/>
            <a:ext cx="18288" cy="4023360"/>
          </a:xfrm>
          <a:prstGeom prst="rect">
            <a:avLst/>
          </a:prstGeom>
          <a:solidFill>
            <a:srgbClr val="2E2B43"/>
          </a:solidFill>
          <a:ln/>
        </p:spPr>
      </p:sp>
      <p:sp>
        <p:nvSpPr>
          <p:cNvPr id="8" name="Text 6"/>
          <p:cNvSpPr/>
          <p:nvPr/>
        </p:nvSpPr>
        <p:spPr>
          <a:xfrm>
            <a:off x="6492240" y="1371600"/>
            <a:ext cx="5120640" cy="274320"/>
          </a:xfrm>
          <a:prstGeom prst="rect">
            <a:avLst/>
          </a:prstGeom>
          <a:noFill/>
          <a:ln/>
        </p:spPr>
        <p:txBody>
          <a:bodyPr wrap="square" rtlCol="0" anchor="ctr"/>
          <a:lstStyle/>
          <a:p>
            <a:pPr marL="0" indent="0">
              <a:buNone/>
            </a:pPr>
            <a:r>
              <a:rPr lang="en-US" sz="1300" b="1" dirty="0">
                <a:solidFill>
                  <a:srgbClr val="FF7E5F"/>
                </a:solidFill>
                <a:latin typeface="Trebuchet MS" pitchFamily="34" charset="0"/>
                <a:ea typeface="Trebuchet MS" pitchFamily="34" charset="-122"/>
                <a:cs typeface="Trebuchet MS" pitchFamily="34" charset="-120"/>
              </a:rPr>
              <a:t>AI CONTEXT NOTE (COURSE 2 PARADIGM SHIFT)</a:t>
            </a:r>
            <a:endParaRPr lang="en-US" sz="1300" dirty="0"/>
          </a:p>
        </p:txBody>
      </p:sp>
      <p:sp>
        <p:nvSpPr>
          <p:cNvPr id="9" name="Text 7"/>
          <p:cNvSpPr/>
          <p:nvPr/>
        </p:nvSpPr>
        <p:spPr>
          <a:xfrm>
            <a:off x="6492240" y="1828800"/>
            <a:ext cx="5120640" cy="3474720"/>
          </a:xfrm>
          <a:prstGeom prst="rect">
            <a:avLst/>
          </a:prstGeom>
          <a:noFill/>
          <a:ln/>
        </p:spPr>
        <p:txBody>
          <a:bodyPr wrap="square" rtlCol="0" anchor="t"/>
          <a:lstStyle/>
          <a:p>
            <a:pPr marL="0" indent="0">
              <a:lnSpc>
                <a:spcPts val="1400"/>
              </a:lnSpc>
              <a:buNone/>
            </a:pPr>
            <a:r>
              <a:rPr lang="en-US" sz="1100" b="1" dirty="0">
                <a:solidFill>
                  <a:srgbClr val="FFFFFF"/>
                </a:solidFill>
                <a:latin typeface="Segoe UI" pitchFamily="34" charset="0"/>
                <a:ea typeface="Segoe UI" pitchFamily="34" charset="-122"/>
                <a:cs typeface="Segoe UI" pitchFamily="34" charset="-120"/>
              </a:rPr>
              <a:t>• The Rule-Based Expert System Failure (1970s–1980s):
</a:t>
            </a:r>
            <a:r>
              <a:rPr lang="en-US" sz="1100" dirty="0">
                <a:solidFill>
                  <a:srgbClr val="E2E2EC"/>
                </a:solidFill>
                <a:latin typeface="Segoe UI" pitchFamily="34" charset="0"/>
                <a:ea typeface="Segoe UI" pitchFamily="34" charset="-122"/>
                <a:cs typeface="Segoe UI" pitchFamily="34" charset="-120"/>
              </a:rPr>
              <a:t>Early AI attempted to model housing markets using hand-crafted if-then rules. These systems failed because they could not adapt to market changes or scale with complex high-dimensional variables.
</a:t>
            </a:r>
            <a:r>
              <a:rPr lang="en-US" sz="1100" b="1" dirty="0">
                <a:solidFill>
                  <a:srgbClr val="FFFFFF"/>
                </a:solidFill>
                <a:latin typeface="Segoe UI" pitchFamily="34" charset="0"/>
                <a:ea typeface="Segoe UI" pitchFamily="34" charset="-122"/>
                <a:cs typeface="Segoe UI" pitchFamily="34" charset="-120"/>
              </a:rPr>
              <a:t>• Shift to Statistical Machine Learning:
</a:t>
            </a:r>
            <a:r>
              <a:rPr lang="en-US" sz="1100" dirty="0">
                <a:solidFill>
                  <a:srgbClr val="E2E2EC"/>
                </a:solidFill>
                <a:latin typeface="Segoe UI" pitchFamily="34" charset="0"/>
                <a:ea typeface="Segoe UI" pitchFamily="34" charset="-122"/>
                <a:cs typeface="Segoe UI" pitchFamily="34" charset="-120"/>
              </a:rPr>
              <a:t>Instead of programming explicit rules, our Ridge model learns pricing patterns statistically from data. It automatically discovers coefficients for quality ratings and locations across 1,460 examples. This transition from symbol manipulation to data-driven inference marks the modern AI paradigm.</a:t>
            </a:r>
            <a:endParaRPr lang="en-US" sz="1100" dirty="0"/>
          </a:p>
        </p:txBody>
      </p:sp>
      <p:sp>
        <p:nvSpPr>
          <p:cNvPr id="10" name="Shape 8"/>
          <p:cNvSpPr/>
          <p:nvPr/>
        </p:nvSpPr>
        <p:spPr>
          <a:xfrm>
            <a:off x="548640" y="5486400"/>
            <a:ext cx="11064240" cy="9144"/>
          </a:xfrm>
          <a:prstGeom prst="rect">
            <a:avLst/>
          </a:prstGeom>
          <a:solidFill>
            <a:srgbClr val="2E2B43"/>
          </a:solidFill>
          <a:ln/>
        </p:spPr>
      </p:sp>
      <p:sp>
        <p:nvSpPr>
          <p:cNvPr id="12"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Data Science Project Pipeline</a:t>
            </a:r>
            <a:endParaRPr lang="en-US" sz="2400" dirty="0"/>
          </a:p>
        </p:txBody>
      </p:sp>
      <p:sp>
        <p:nvSpPr>
          <p:cNvPr id="4" name="Shape 2"/>
          <p:cNvSpPr/>
          <p:nvPr/>
        </p:nvSpPr>
        <p:spPr>
          <a:xfrm>
            <a:off x="548640" y="1051560"/>
            <a:ext cx="11064240" cy="18288"/>
          </a:xfrm>
          <a:prstGeom prst="rect">
            <a:avLst/>
          </a:prstGeom>
          <a:solidFill>
            <a:srgbClr val="FF7E5F"/>
          </a:solidFill>
          <a:ln/>
        </p:spPr>
      </p:sp>
      <p:sp>
        <p:nvSpPr>
          <p:cNvPr id="5" name="Shape 3"/>
          <p:cNvSpPr/>
          <p:nvPr/>
        </p:nvSpPr>
        <p:spPr>
          <a:xfrm>
            <a:off x="548640" y="3108960"/>
            <a:ext cx="11064240" cy="18288"/>
          </a:xfrm>
          <a:prstGeom prst="rect">
            <a:avLst/>
          </a:prstGeom>
          <a:solidFill>
            <a:srgbClr val="FF7E5F"/>
          </a:solidFill>
          <a:ln/>
        </p:spPr>
      </p:sp>
      <p:sp>
        <p:nvSpPr>
          <p:cNvPr id="6" name="Text 4"/>
          <p:cNvSpPr/>
          <p:nvPr/>
        </p:nvSpPr>
        <p:spPr>
          <a:xfrm>
            <a:off x="548640" y="1645920"/>
            <a:ext cx="1783080" cy="365760"/>
          </a:xfrm>
          <a:prstGeom prst="rect">
            <a:avLst/>
          </a:prstGeom>
          <a:noFill/>
          <a:ln/>
        </p:spPr>
        <p:txBody>
          <a:bodyPr wrap="square" rtlCol="0" anchor="ctr"/>
          <a:lstStyle/>
          <a:p>
            <a:pPr marL="0" indent="0">
              <a:buNone/>
            </a:pPr>
            <a:r>
              <a:rPr lang="en-US" sz="2200" b="1" dirty="0">
                <a:solidFill>
                  <a:srgbClr val="FF7E5F"/>
                </a:solidFill>
                <a:latin typeface="Trebuchet MS" pitchFamily="34" charset="0"/>
                <a:ea typeface="Trebuchet MS" pitchFamily="34" charset="-122"/>
                <a:cs typeface="Trebuchet MS" pitchFamily="34" charset="-120"/>
              </a:rPr>
              <a:t>01</a:t>
            </a:r>
            <a:endParaRPr lang="en-US" sz="2200" dirty="0"/>
          </a:p>
        </p:txBody>
      </p:sp>
      <p:sp>
        <p:nvSpPr>
          <p:cNvPr id="7" name="Text 5"/>
          <p:cNvSpPr/>
          <p:nvPr/>
        </p:nvSpPr>
        <p:spPr>
          <a:xfrm>
            <a:off x="548640" y="2011680"/>
            <a:ext cx="1783080" cy="457200"/>
          </a:xfrm>
          <a:prstGeom prst="rect">
            <a:avLst/>
          </a:prstGeom>
          <a:noFill/>
          <a:ln/>
        </p:spPr>
        <p:txBody>
          <a:bodyPr wrap="square" rtlCol="0" anchor="ctr"/>
          <a:lstStyle/>
          <a:p>
            <a:pPr marL="0" indent="0">
              <a:buNone/>
            </a:pPr>
            <a:r>
              <a:rPr lang="en-US" sz="1100" b="1" dirty="0">
                <a:solidFill>
                  <a:srgbClr val="FFFFFE"/>
                </a:solidFill>
                <a:latin typeface="Trebuchet MS" pitchFamily="34" charset="0"/>
                <a:ea typeface="Trebuchet MS" pitchFamily="34" charset="-122"/>
                <a:cs typeface="Trebuchet MS" pitchFamily="34" charset="-120"/>
              </a:rPr>
              <a:t>Acquisition &amp; Audit</a:t>
            </a:r>
            <a:endParaRPr lang="en-US" sz="1100" dirty="0"/>
          </a:p>
        </p:txBody>
      </p:sp>
      <p:sp>
        <p:nvSpPr>
          <p:cNvPr id="8" name="Shape 6"/>
          <p:cNvSpPr/>
          <p:nvPr/>
        </p:nvSpPr>
        <p:spPr>
          <a:xfrm>
            <a:off x="640080" y="3017520"/>
            <a:ext cx="182880" cy="182880"/>
          </a:xfrm>
          <a:prstGeom prst="ellipse">
            <a:avLst/>
          </a:prstGeom>
          <a:solidFill>
            <a:srgbClr val="FF7E5F"/>
          </a:solidFill>
          <a:ln/>
        </p:spPr>
      </p:sp>
      <p:sp>
        <p:nvSpPr>
          <p:cNvPr id="9" name="Text 7"/>
          <p:cNvSpPr/>
          <p:nvPr/>
        </p:nvSpPr>
        <p:spPr>
          <a:xfrm>
            <a:off x="548640" y="3383280"/>
            <a:ext cx="1783080" cy="2560320"/>
          </a:xfrm>
          <a:prstGeom prst="rect">
            <a:avLst/>
          </a:prstGeom>
          <a:noFill/>
          <a:ln/>
        </p:spPr>
        <p:txBody>
          <a:bodyPr wrap="square" rtlCol="0" anchor="t"/>
          <a:lstStyle/>
          <a:p>
            <a:pPr marL="0" indent="0">
              <a:lnSpc>
                <a:spcPts val="1400"/>
              </a:lnSpc>
              <a:buNone/>
            </a:pPr>
            <a:r>
              <a:rPr lang="en-US" sz="950" dirty="0">
                <a:solidFill>
                  <a:srgbClr val="E2E2EC"/>
                </a:solidFill>
                <a:latin typeface="Segoe UI" pitchFamily="34" charset="0"/>
                <a:ea typeface="Segoe UI" pitchFamily="34" charset="-122"/>
                <a:cs typeface="Segoe UI" pitchFamily="34" charset="-120"/>
              </a:rPr>
              <a:t>Loaded 1,460 rows × 81 columns. Audited dtypes and identified skewed SalePrice target.</a:t>
            </a:r>
            <a:endParaRPr lang="en-US" sz="950" dirty="0"/>
          </a:p>
        </p:txBody>
      </p:sp>
      <p:sp>
        <p:nvSpPr>
          <p:cNvPr id="10" name="Text 8"/>
          <p:cNvSpPr/>
          <p:nvPr/>
        </p:nvSpPr>
        <p:spPr>
          <a:xfrm>
            <a:off x="2404872" y="1645920"/>
            <a:ext cx="1783080" cy="365760"/>
          </a:xfrm>
          <a:prstGeom prst="rect">
            <a:avLst/>
          </a:prstGeom>
          <a:noFill/>
          <a:ln/>
        </p:spPr>
        <p:txBody>
          <a:bodyPr wrap="square" rtlCol="0" anchor="ctr"/>
          <a:lstStyle/>
          <a:p>
            <a:pPr marL="0" indent="0">
              <a:buNone/>
            </a:pPr>
            <a:r>
              <a:rPr lang="en-US" sz="2200" b="1" dirty="0">
                <a:solidFill>
                  <a:srgbClr val="FF7E5F"/>
                </a:solidFill>
                <a:latin typeface="Trebuchet MS" pitchFamily="34" charset="0"/>
                <a:ea typeface="Trebuchet MS" pitchFamily="34" charset="-122"/>
                <a:cs typeface="Trebuchet MS" pitchFamily="34" charset="-120"/>
              </a:rPr>
              <a:t>02</a:t>
            </a:r>
            <a:endParaRPr lang="en-US" sz="2200" dirty="0"/>
          </a:p>
        </p:txBody>
      </p:sp>
      <p:sp>
        <p:nvSpPr>
          <p:cNvPr id="11" name="Text 9"/>
          <p:cNvSpPr/>
          <p:nvPr/>
        </p:nvSpPr>
        <p:spPr>
          <a:xfrm>
            <a:off x="2404872" y="2011680"/>
            <a:ext cx="1783080" cy="457200"/>
          </a:xfrm>
          <a:prstGeom prst="rect">
            <a:avLst/>
          </a:prstGeom>
          <a:noFill/>
          <a:ln/>
        </p:spPr>
        <p:txBody>
          <a:bodyPr wrap="square" rtlCol="0" anchor="ctr"/>
          <a:lstStyle/>
          <a:p>
            <a:pPr marL="0" indent="0">
              <a:buNone/>
            </a:pPr>
            <a:r>
              <a:rPr lang="en-US" sz="1100" b="1" dirty="0">
                <a:solidFill>
                  <a:srgbClr val="FFFFFE"/>
                </a:solidFill>
                <a:latin typeface="Trebuchet MS" pitchFamily="34" charset="0"/>
                <a:ea typeface="Trebuchet MS" pitchFamily="34" charset="-122"/>
                <a:cs typeface="Trebuchet MS" pitchFamily="34" charset="-120"/>
              </a:rPr>
              <a:t>Data Wrangling</a:t>
            </a:r>
            <a:endParaRPr lang="en-US" sz="1100" dirty="0"/>
          </a:p>
        </p:txBody>
      </p:sp>
      <p:sp>
        <p:nvSpPr>
          <p:cNvPr id="12" name="Shape 10"/>
          <p:cNvSpPr/>
          <p:nvPr/>
        </p:nvSpPr>
        <p:spPr>
          <a:xfrm>
            <a:off x="2496312" y="3017520"/>
            <a:ext cx="182880" cy="182880"/>
          </a:xfrm>
          <a:prstGeom prst="ellipse">
            <a:avLst/>
          </a:prstGeom>
          <a:solidFill>
            <a:srgbClr val="FF7E5F"/>
          </a:solidFill>
          <a:ln/>
        </p:spPr>
      </p:sp>
      <p:sp>
        <p:nvSpPr>
          <p:cNvPr id="13" name="Text 11"/>
          <p:cNvSpPr/>
          <p:nvPr/>
        </p:nvSpPr>
        <p:spPr>
          <a:xfrm>
            <a:off x="2404872" y="3383280"/>
            <a:ext cx="1783080" cy="2560320"/>
          </a:xfrm>
          <a:prstGeom prst="rect">
            <a:avLst/>
          </a:prstGeom>
          <a:noFill/>
          <a:ln/>
        </p:spPr>
        <p:txBody>
          <a:bodyPr wrap="square" rtlCol="0" anchor="t"/>
          <a:lstStyle/>
          <a:p>
            <a:pPr marL="0" indent="0">
              <a:lnSpc>
                <a:spcPts val="1400"/>
              </a:lnSpc>
              <a:buNone/>
            </a:pPr>
            <a:r>
              <a:rPr lang="en-US" sz="950" dirty="0">
                <a:solidFill>
                  <a:srgbClr val="E2E2EC"/>
                </a:solidFill>
                <a:latin typeface="Segoe UI" pitchFamily="34" charset="0"/>
                <a:ea typeface="Segoe UI" pitchFamily="34" charset="-122"/>
                <a:cs typeface="Segoe UI" pitchFamily="34" charset="-120"/>
              </a:rPr>
              <a:t>Dropped 4 columns (&gt;80% missing). Imputed median/mode. Ordinal/one-hot encoded.</a:t>
            </a:r>
            <a:endParaRPr lang="en-US" sz="950" dirty="0"/>
          </a:p>
        </p:txBody>
      </p:sp>
      <p:sp>
        <p:nvSpPr>
          <p:cNvPr id="14" name="Text 12"/>
          <p:cNvSpPr/>
          <p:nvPr/>
        </p:nvSpPr>
        <p:spPr>
          <a:xfrm>
            <a:off x="4261104" y="1645920"/>
            <a:ext cx="1783080" cy="365760"/>
          </a:xfrm>
          <a:prstGeom prst="rect">
            <a:avLst/>
          </a:prstGeom>
          <a:noFill/>
          <a:ln/>
        </p:spPr>
        <p:txBody>
          <a:bodyPr wrap="square" rtlCol="0" anchor="ctr"/>
          <a:lstStyle/>
          <a:p>
            <a:pPr marL="0" indent="0">
              <a:buNone/>
            </a:pPr>
            <a:r>
              <a:rPr lang="en-US" sz="2200" b="1" dirty="0">
                <a:solidFill>
                  <a:srgbClr val="FF7E5F"/>
                </a:solidFill>
                <a:latin typeface="Trebuchet MS" pitchFamily="34" charset="0"/>
                <a:ea typeface="Trebuchet MS" pitchFamily="34" charset="-122"/>
                <a:cs typeface="Trebuchet MS" pitchFamily="34" charset="-120"/>
              </a:rPr>
              <a:t>03</a:t>
            </a:r>
            <a:endParaRPr lang="en-US" sz="2200" dirty="0"/>
          </a:p>
        </p:txBody>
      </p:sp>
      <p:sp>
        <p:nvSpPr>
          <p:cNvPr id="15" name="Text 13"/>
          <p:cNvSpPr/>
          <p:nvPr/>
        </p:nvSpPr>
        <p:spPr>
          <a:xfrm>
            <a:off x="4261104" y="2011680"/>
            <a:ext cx="1783080" cy="457200"/>
          </a:xfrm>
          <a:prstGeom prst="rect">
            <a:avLst/>
          </a:prstGeom>
          <a:noFill/>
          <a:ln/>
        </p:spPr>
        <p:txBody>
          <a:bodyPr wrap="square" rtlCol="0" anchor="ctr"/>
          <a:lstStyle/>
          <a:p>
            <a:pPr marL="0" indent="0">
              <a:buNone/>
            </a:pPr>
            <a:r>
              <a:rPr lang="en-US" sz="1100" b="1" dirty="0">
                <a:solidFill>
                  <a:srgbClr val="FFFFFE"/>
                </a:solidFill>
                <a:latin typeface="Trebuchet MS" pitchFamily="34" charset="0"/>
                <a:ea typeface="Trebuchet MS" pitchFamily="34" charset="-122"/>
                <a:cs typeface="Trebuchet MS" pitchFamily="34" charset="-120"/>
              </a:rPr>
              <a:t>Feature Eng.</a:t>
            </a:r>
            <a:endParaRPr lang="en-US" sz="1100" dirty="0"/>
          </a:p>
        </p:txBody>
      </p:sp>
      <p:sp>
        <p:nvSpPr>
          <p:cNvPr id="16" name="Shape 14"/>
          <p:cNvSpPr/>
          <p:nvPr/>
        </p:nvSpPr>
        <p:spPr>
          <a:xfrm>
            <a:off x="4352544" y="3017520"/>
            <a:ext cx="182880" cy="182880"/>
          </a:xfrm>
          <a:prstGeom prst="ellipse">
            <a:avLst/>
          </a:prstGeom>
          <a:solidFill>
            <a:srgbClr val="FF7E5F"/>
          </a:solidFill>
          <a:ln/>
        </p:spPr>
      </p:sp>
      <p:sp>
        <p:nvSpPr>
          <p:cNvPr id="17" name="Text 15"/>
          <p:cNvSpPr/>
          <p:nvPr/>
        </p:nvSpPr>
        <p:spPr>
          <a:xfrm>
            <a:off x="4261104" y="3383280"/>
            <a:ext cx="1783080" cy="2560320"/>
          </a:xfrm>
          <a:prstGeom prst="rect">
            <a:avLst/>
          </a:prstGeom>
          <a:noFill/>
          <a:ln/>
        </p:spPr>
        <p:txBody>
          <a:bodyPr wrap="square" rtlCol="0" anchor="t"/>
          <a:lstStyle/>
          <a:p>
            <a:pPr marL="0" indent="0">
              <a:lnSpc>
                <a:spcPts val="1400"/>
              </a:lnSpc>
              <a:buNone/>
            </a:pPr>
            <a:r>
              <a:rPr lang="en-US" sz="950" dirty="0">
                <a:solidFill>
                  <a:srgbClr val="E2E2EC"/>
                </a:solidFill>
                <a:latin typeface="Segoe UI" pitchFamily="34" charset="0"/>
                <a:ea typeface="Segoe UI" pitchFamily="34" charset="-122"/>
                <a:cs typeface="Segoe UI" pitchFamily="34" charset="-120"/>
              </a:rPr>
              <a:t>Created 5 new features (TotalSF, etc.). Filtered features by corr &gt; 0.1. Saved to SQLite db.</a:t>
            </a:r>
            <a:endParaRPr lang="en-US" sz="950" dirty="0"/>
          </a:p>
        </p:txBody>
      </p:sp>
      <p:sp>
        <p:nvSpPr>
          <p:cNvPr id="18" name="Text 16"/>
          <p:cNvSpPr/>
          <p:nvPr/>
        </p:nvSpPr>
        <p:spPr>
          <a:xfrm>
            <a:off x="6117336" y="1645920"/>
            <a:ext cx="1783080" cy="365760"/>
          </a:xfrm>
          <a:prstGeom prst="rect">
            <a:avLst/>
          </a:prstGeom>
          <a:noFill/>
          <a:ln/>
        </p:spPr>
        <p:txBody>
          <a:bodyPr wrap="square" rtlCol="0" anchor="ctr"/>
          <a:lstStyle/>
          <a:p>
            <a:pPr marL="0" indent="0">
              <a:buNone/>
            </a:pPr>
            <a:r>
              <a:rPr lang="en-US" sz="2200" b="1" dirty="0">
                <a:solidFill>
                  <a:srgbClr val="FF7E5F"/>
                </a:solidFill>
                <a:latin typeface="Trebuchet MS" pitchFamily="34" charset="0"/>
                <a:ea typeface="Trebuchet MS" pitchFamily="34" charset="-122"/>
                <a:cs typeface="Trebuchet MS" pitchFamily="34" charset="-120"/>
              </a:rPr>
              <a:t>04</a:t>
            </a:r>
            <a:endParaRPr lang="en-US" sz="2200" dirty="0"/>
          </a:p>
        </p:txBody>
      </p:sp>
      <p:sp>
        <p:nvSpPr>
          <p:cNvPr id="19" name="Text 17"/>
          <p:cNvSpPr/>
          <p:nvPr/>
        </p:nvSpPr>
        <p:spPr>
          <a:xfrm>
            <a:off x="6117336" y="2011680"/>
            <a:ext cx="1783080" cy="457200"/>
          </a:xfrm>
          <a:prstGeom prst="rect">
            <a:avLst/>
          </a:prstGeom>
          <a:noFill/>
          <a:ln/>
        </p:spPr>
        <p:txBody>
          <a:bodyPr wrap="square" rtlCol="0" anchor="ctr"/>
          <a:lstStyle/>
          <a:p>
            <a:pPr marL="0" indent="0">
              <a:buNone/>
            </a:pPr>
            <a:r>
              <a:rPr lang="en-US" sz="1100" b="1" dirty="0">
                <a:solidFill>
                  <a:srgbClr val="FFFFFE"/>
                </a:solidFill>
                <a:latin typeface="Trebuchet MS" pitchFamily="34" charset="0"/>
                <a:ea typeface="Trebuchet MS" pitchFamily="34" charset="-122"/>
                <a:cs typeface="Trebuchet MS" pitchFamily="34" charset="-120"/>
              </a:rPr>
              <a:t>Algorithm Selection</a:t>
            </a:r>
            <a:endParaRPr lang="en-US" sz="1100" dirty="0"/>
          </a:p>
        </p:txBody>
      </p:sp>
      <p:sp>
        <p:nvSpPr>
          <p:cNvPr id="20" name="Shape 18"/>
          <p:cNvSpPr/>
          <p:nvPr/>
        </p:nvSpPr>
        <p:spPr>
          <a:xfrm>
            <a:off x="6208776" y="3017520"/>
            <a:ext cx="182880" cy="182880"/>
          </a:xfrm>
          <a:prstGeom prst="ellipse">
            <a:avLst/>
          </a:prstGeom>
          <a:solidFill>
            <a:srgbClr val="FF7E5F"/>
          </a:solidFill>
          <a:ln/>
        </p:spPr>
      </p:sp>
      <p:sp>
        <p:nvSpPr>
          <p:cNvPr id="21" name="Text 19"/>
          <p:cNvSpPr/>
          <p:nvPr/>
        </p:nvSpPr>
        <p:spPr>
          <a:xfrm>
            <a:off x="6117336" y="3383280"/>
            <a:ext cx="1783080" cy="2560320"/>
          </a:xfrm>
          <a:prstGeom prst="rect">
            <a:avLst/>
          </a:prstGeom>
          <a:noFill/>
          <a:ln/>
        </p:spPr>
        <p:txBody>
          <a:bodyPr wrap="square" rtlCol="0" anchor="t"/>
          <a:lstStyle/>
          <a:p>
            <a:pPr marL="0" indent="0">
              <a:lnSpc>
                <a:spcPts val="1400"/>
              </a:lnSpc>
              <a:buNone/>
            </a:pPr>
            <a:r>
              <a:rPr lang="en-US" sz="950" dirty="0">
                <a:solidFill>
                  <a:srgbClr val="E2E2EC"/>
                </a:solidFill>
                <a:latin typeface="Segoe UI" pitchFamily="34" charset="0"/>
                <a:ea typeface="Segoe UI" pitchFamily="34" charset="-122"/>
                <a:cs typeface="Segoe UI" pitchFamily="34" charset="-120"/>
              </a:rPr>
              <a:t>Compared 7 regression models. Selected Linear, Ridge, and XGBoost. Chose RMSE.</a:t>
            </a:r>
            <a:endParaRPr lang="en-US" sz="950" dirty="0"/>
          </a:p>
        </p:txBody>
      </p:sp>
      <p:sp>
        <p:nvSpPr>
          <p:cNvPr id="22" name="Text 20"/>
          <p:cNvSpPr/>
          <p:nvPr/>
        </p:nvSpPr>
        <p:spPr>
          <a:xfrm>
            <a:off x="7973568" y="1645920"/>
            <a:ext cx="1783080" cy="365760"/>
          </a:xfrm>
          <a:prstGeom prst="rect">
            <a:avLst/>
          </a:prstGeom>
          <a:noFill/>
          <a:ln/>
        </p:spPr>
        <p:txBody>
          <a:bodyPr wrap="square" rtlCol="0" anchor="ctr"/>
          <a:lstStyle/>
          <a:p>
            <a:pPr marL="0" indent="0">
              <a:buNone/>
            </a:pPr>
            <a:r>
              <a:rPr lang="en-US" sz="2200" b="1" dirty="0">
                <a:solidFill>
                  <a:srgbClr val="FF7E5F"/>
                </a:solidFill>
                <a:latin typeface="Trebuchet MS" pitchFamily="34" charset="0"/>
                <a:ea typeface="Trebuchet MS" pitchFamily="34" charset="-122"/>
                <a:cs typeface="Trebuchet MS" pitchFamily="34" charset="-120"/>
              </a:rPr>
              <a:t>05</a:t>
            </a:r>
            <a:endParaRPr lang="en-US" sz="2200" dirty="0"/>
          </a:p>
        </p:txBody>
      </p:sp>
      <p:sp>
        <p:nvSpPr>
          <p:cNvPr id="23" name="Text 21"/>
          <p:cNvSpPr/>
          <p:nvPr/>
        </p:nvSpPr>
        <p:spPr>
          <a:xfrm>
            <a:off x="7973568" y="2011680"/>
            <a:ext cx="1783080" cy="457200"/>
          </a:xfrm>
          <a:prstGeom prst="rect">
            <a:avLst/>
          </a:prstGeom>
          <a:noFill/>
          <a:ln/>
        </p:spPr>
        <p:txBody>
          <a:bodyPr wrap="square" rtlCol="0" anchor="ctr"/>
          <a:lstStyle/>
          <a:p>
            <a:pPr marL="0" indent="0">
              <a:buNone/>
            </a:pPr>
            <a:r>
              <a:rPr lang="en-US" sz="1100" b="1" dirty="0">
                <a:solidFill>
                  <a:srgbClr val="FFFFFE"/>
                </a:solidFill>
                <a:latin typeface="Trebuchet MS" pitchFamily="34" charset="0"/>
                <a:ea typeface="Trebuchet MS" pitchFamily="34" charset="-122"/>
                <a:cs typeface="Trebuchet MS" pitchFamily="34" charset="-120"/>
              </a:rPr>
              <a:t>Training &amp; Tuning</a:t>
            </a:r>
            <a:endParaRPr lang="en-US" sz="1100" dirty="0"/>
          </a:p>
        </p:txBody>
      </p:sp>
      <p:sp>
        <p:nvSpPr>
          <p:cNvPr id="24" name="Shape 22"/>
          <p:cNvSpPr/>
          <p:nvPr/>
        </p:nvSpPr>
        <p:spPr>
          <a:xfrm>
            <a:off x="8065008" y="3017520"/>
            <a:ext cx="182880" cy="182880"/>
          </a:xfrm>
          <a:prstGeom prst="ellipse">
            <a:avLst/>
          </a:prstGeom>
          <a:solidFill>
            <a:srgbClr val="FF7E5F"/>
          </a:solidFill>
          <a:ln/>
        </p:spPr>
      </p:sp>
      <p:sp>
        <p:nvSpPr>
          <p:cNvPr id="25" name="Text 23"/>
          <p:cNvSpPr/>
          <p:nvPr/>
        </p:nvSpPr>
        <p:spPr>
          <a:xfrm>
            <a:off x="7973568" y="3383280"/>
            <a:ext cx="1783080" cy="2560320"/>
          </a:xfrm>
          <a:prstGeom prst="rect">
            <a:avLst/>
          </a:prstGeom>
          <a:noFill/>
          <a:ln/>
        </p:spPr>
        <p:txBody>
          <a:bodyPr wrap="square" rtlCol="0" anchor="t"/>
          <a:lstStyle/>
          <a:p>
            <a:pPr marL="0" indent="0">
              <a:lnSpc>
                <a:spcPts val="1400"/>
              </a:lnSpc>
              <a:buNone/>
            </a:pPr>
            <a:r>
              <a:rPr lang="en-US" sz="950" dirty="0">
                <a:solidFill>
                  <a:srgbClr val="E2E2EC"/>
                </a:solidFill>
                <a:latin typeface="Segoe UI" pitchFamily="34" charset="0"/>
                <a:ea typeface="Segoe UI" pitchFamily="34" charset="-122"/>
                <a:cs typeface="Segoe UI" pitchFamily="34" charset="-120"/>
              </a:rPr>
              <a:t>Log target transform. Split 80/20. GridSearchCV tuned Ridge (alpha=10).</a:t>
            </a:r>
            <a:endParaRPr lang="en-US" sz="950" dirty="0"/>
          </a:p>
        </p:txBody>
      </p:sp>
      <p:sp>
        <p:nvSpPr>
          <p:cNvPr id="26" name="Text 24"/>
          <p:cNvSpPr/>
          <p:nvPr/>
        </p:nvSpPr>
        <p:spPr>
          <a:xfrm>
            <a:off x="9829800" y="1645920"/>
            <a:ext cx="1783080" cy="365760"/>
          </a:xfrm>
          <a:prstGeom prst="rect">
            <a:avLst/>
          </a:prstGeom>
          <a:noFill/>
          <a:ln/>
        </p:spPr>
        <p:txBody>
          <a:bodyPr wrap="square" rtlCol="0" anchor="ctr"/>
          <a:lstStyle/>
          <a:p>
            <a:pPr marL="0" indent="0">
              <a:buNone/>
            </a:pPr>
            <a:r>
              <a:rPr lang="en-US" sz="2200" b="1" dirty="0">
                <a:solidFill>
                  <a:srgbClr val="FF7E5F"/>
                </a:solidFill>
                <a:latin typeface="Trebuchet MS" pitchFamily="34" charset="0"/>
                <a:ea typeface="Trebuchet MS" pitchFamily="34" charset="-122"/>
                <a:cs typeface="Trebuchet MS" pitchFamily="34" charset="-120"/>
              </a:rPr>
              <a:t>06</a:t>
            </a:r>
            <a:endParaRPr lang="en-US" sz="2200" dirty="0"/>
          </a:p>
        </p:txBody>
      </p:sp>
      <p:sp>
        <p:nvSpPr>
          <p:cNvPr id="27" name="Text 25"/>
          <p:cNvSpPr/>
          <p:nvPr/>
        </p:nvSpPr>
        <p:spPr>
          <a:xfrm>
            <a:off x="9829800" y="2011680"/>
            <a:ext cx="1783080" cy="457200"/>
          </a:xfrm>
          <a:prstGeom prst="rect">
            <a:avLst/>
          </a:prstGeom>
          <a:noFill/>
          <a:ln/>
        </p:spPr>
        <p:txBody>
          <a:bodyPr wrap="square" rtlCol="0" anchor="ctr"/>
          <a:lstStyle/>
          <a:p>
            <a:pPr marL="0" indent="0">
              <a:buNone/>
            </a:pPr>
            <a:r>
              <a:rPr lang="en-US" sz="1100" b="1" dirty="0">
                <a:solidFill>
                  <a:srgbClr val="FFFFFE"/>
                </a:solidFill>
                <a:latin typeface="Trebuchet MS" pitchFamily="34" charset="0"/>
                <a:ea typeface="Trebuchet MS" pitchFamily="34" charset="-122"/>
                <a:cs typeface="Trebuchet MS" pitchFamily="34" charset="-120"/>
              </a:rPr>
              <a:t>Final Report</a:t>
            </a:r>
            <a:endParaRPr lang="en-US" sz="1100" dirty="0"/>
          </a:p>
        </p:txBody>
      </p:sp>
      <p:sp>
        <p:nvSpPr>
          <p:cNvPr id="28" name="Shape 26"/>
          <p:cNvSpPr/>
          <p:nvPr/>
        </p:nvSpPr>
        <p:spPr>
          <a:xfrm>
            <a:off x="9921240" y="3017520"/>
            <a:ext cx="182880" cy="182880"/>
          </a:xfrm>
          <a:prstGeom prst="ellipse">
            <a:avLst/>
          </a:prstGeom>
          <a:solidFill>
            <a:srgbClr val="FF7E5F"/>
          </a:solidFill>
          <a:ln/>
        </p:spPr>
      </p:sp>
      <p:sp>
        <p:nvSpPr>
          <p:cNvPr id="29" name="Text 27"/>
          <p:cNvSpPr/>
          <p:nvPr/>
        </p:nvSpPr>
        <p:spPr>
          <a:xfrm>
            <a:off x="9829800" y="3383280"/>
            <a:ext cx="1783080" cy="2560320"/>
          </a:xfrm>
          <a:prstGeom prst="rect">
            <a:avLst/>
          </a:prstGeom>
          <a:noFill/>
          <a:ln/>
        </p:spPr>
        <p:txBody>
          <a:bodyPr wrap="square" rtlCol="0" anchor="t"/>
          <a:lstStyle/>
          <a:p>
            <a:pPr marL="0" indent="0">
              <a:lnSpc>
                <a:spcPts val="1400"/>
              </a:lnSpc>
              <a:buNone/>
            </a:pPr>
            <a:r>
              <a:rPr lang="en-US" sz="950" dirty="0">
                <a:solidFill>
                  <a:srgbClr val="E2E2EC"/>
                </a:solidFill>
                <a:latin typeface="Segoe UI" pitchFamily="34" charset="0"/>
                <a:ea typeface="Segoe UI" pitchFamily="34" charset="-122"/>
                <a:cs typeface="Segoe UI" pitchFamily="34" charset="-120"/>
              </a:rPr>
              <a:t>Produced a Model Card outlining limits and redlining risks. Final report &amp; slides.</a:t>
            </a:r>
            <a:endParaRPr lang="en-US" sz="950" dirty="0"/>
          </a:p>
        </p:txBody>
      </p:sp>
      <p:sp>
        <p:nvSpPr>
          <p:cNvPr id="30"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Data Ingestion &amp; Inconsistent Null Audit</a:t>
            </a:r>
            <a:endParaRPr lang="en-US" sz="2400" dirty="0"/>
          </a:p>
        </p:txBody>
      </p:sp>
      <p:sp>
        <p:nvSpPr>
          <p:cNvPr id="4" name="Shape 2"/>
          <p:cNvSpPr/>
          <p:nvPr/>
        </p:nvSpPr>
        <p:spPr>
          <a:xfrm>
            <a:off x="548640" y="1051560"/>
            <a:ext cx="11064240" cy="18288"/>
          </a:xfrm>
          <a:prstGeom prst="rect">
            <a:avLst/>
          </a:prstGeom>
          <a:solidFill>
            <a:srgbClr val="FF7E5F"/>
          </a:solidFill>
          <a:ln/>
        </p:spPr>
      </p:sp>
      <p:sp>
        <p:nvSpPr>
          <p:cNvPr id="5" name="Text 3"/>
          <p:cNvSpPr/>
          <p:nvPr/>
        </p:nvSpPr>
        <p:spPr>
          <a:xfrm>
            <a:off x="548640" y="1371600"/>
            <a:ext cx="2286000" cy="640080"/>
          </a:xfrm>
          <a:prstGeom prst="rect">
            <a:avLst/>
          </a:prstGeom>
          <a:noFill/>
          <a:ln/>
        </p:spPr>
        <p:txBody>
          <a:bodyPr wrap="square" rtlCol="0" anchor="ctr"/>
          <a:lstStyle/>
          <a:p>
            <a:pPr marL="0" indent="0">
              <a:buNone/>
            </a:pPr>
            <a:r>
              <a:rPr lang="en-US" sz="5400" b="1" dirty="0">
                <a:solidFill>
                  <a:srgbClr val="FF7E5F"/>
                </a:solidFill>
                <a:latin typeface="Trebuchet MS" pitchFamily="34" charset="0"/>
                <a:ea typeface="Trebuchet MS" pitchFamily="34" charset="-122"/>
                <a:cs typeface="Trebuchet MS" pitchFamily="34" charset="-120"/>
              </a:rPr>
              <a:t>1,460</a:t>
            </a:r>
            <a:endParaRPr lang="en-US" sz="5400" dirty="0"/>
          </a:p>
        </p:txBody>
      </p:sp>
      <p:sp>
        <p:nvSpPr>
          <p:cNvPr id="6" name="Text 4"/>
          <p:cNvSpPr/>
          <p:nvPr/>
        </p:nvSpPr>
        <p:spPr>
          <a:xfrm>
            <a:off x="548640" y="2011680"/>
            <a:ext cx="2286000" cy="228600"/>
          </a:xfrm>
          <a:prstGeom prst="rect">
            <a:avLst/>
          </a:prstGeom>
          <a:noFill/>
          <a:ln/>
        </p:spPr>
        <p:txBody>
          <a:bodyPr wrap="square" rtlCol="0" anchor="ctr"/>
          <a:lstStyle/>
          <a:p>
            <a:pPr marL="0" indent="0">
              <a:buNone/>
            </a:pPr>
            <a:r>
              <a:rPr lang="en-US" sz="950" b="1" kern="0" spc="100" dirty="0">
                <a:solidFill>
                  <a:srgbClr val="A7A9BE"/>
                </a:solidFill>
                <a:latin typeface="Segoe UI" pitchFamily="34" charset="0"/>
                <a:ea typeface="Segoe UI" pitchFamily="34" charset="-122"/>
                <a:cs typeface="Segoe UI" pitchFamily="34" charset="-120"/>
              </a:rPr>
              <a:t>INGESTED LISTINGS (ROWS)</a:t>
            </a:r>
            <a:endParaRPr lang="en-US" sz="950" dirty="0"/>
          </a:p>
        </p:txBody>
      </p:sp>
      <p:sp>
        <p:nvSpPr>
          <p:cNvPr id="7" name="Text 5"/>
          <p:cNvSpPr/>
          <p:nvPr/>
        </p:nvSpPr>
        <p:spPr>
          <a:xfrm>
            <a:off x="3017520" y="1371600"/>
            <a:ext cx="2286000" cy="640080"/>
          </a:xfrm>
          <a:prstGeom prst="rect">
            <a:avLst/>
          </a:prstGeom>
          <a:noFill/>
          <a:ln/>
        </p:spPr>
        <p:txBody>
          <a:bodyPr wrap="square" rtlCol="0" anchor="ctr"/>
          <a:lstStyle/>
          <a:p>
            <a:pPr marL="0" indent="0">
              <a:buNone/>
            </a:pPr>
            <a:r>
              <a:rPr lang="en-US" sz="5400" b="1" dirty="0">
                <a:solidFill>
                  <a:srgbClr val="FF7E5F"/>
                </a:solidFill>
                <a:latin typeface="Trebuchet MS" pitchFamily="34" charset="0"/>
                <a:ea typeface="Trebuchet MS" pitchFamily="34" charset="-122"/>
                <a:cs typeface="Trebuchet MS" pitchFamily="34" charset="-120"/>
              </a:rPr>
              <a:t>81</a:t>
            </a:r>
            <a:endParaRPr lang="en-US" sz="5400" dirty="0"/>
          </a:p>
        </p:txBody>
      </p:sp>
      <p:sp>
        <p:nvSpPr>
          <p:cNvPr id="8" name="Text 6"/>
          <p:cNvSpPr/>
          <p:nvPr/>
        </p:nvSpPr>
        <p:spPr>
          <a:xfrm>
            <a:off x="3017520" y="2011680"/>
            <a:ext cx="2286000" cy="228600"/>
          </a:xfrm>
          <a:prstGeom prst="rect">
            <a:avLst/>
          </a:prstGeom>
          <a:noFill/>
          <a:ln/>
        </p:spPr>
        <p:txBody>
          <a:bodyPr wrap="square" rtlCol="0" anchor="ctr"/>
          <a:lstStyle/>
          <a:p>
            <a:pPr marL="0" indent="0">
              <a:buNone/>
            </a:pPr>
            <a:r>
              <a:rPr lang="en-US" sz="950" b="1" kern="0" spc="100" dirty="0">
                <a:solidFill>
                  <a:srgbClr val="A7A9BE"/>
                </a:solidFill>
                <a:latin typeface="Segoe UI" pitchFamily="34" charset="0"/>
                <a:ea typeface="Segoe UI" pitchFamily="34" charset="-122"/>
                <a:cs typeface="Segoe UI" pitchFamily="34" charset="-120"/>
              </a:rPr>
              <a:t>INITIAL FEATURES (COLUMNS)</a:t>
            </a:r>
            <a:endParaRPr lang="en-US" sz="950" dirty="0"/>
          </a:p>
        </p:txBody>
      </p:sp>
      <p:sp>
        <p:nvSpPr>
          <p:cNvPr id="9" name="Shape 7"/>
          <p:cNvSpPr/>
          <p:nvPr/>
        </p:nvSpPr>
        <p:spPr>
          <a:xfrm>
            <a:off x="548640" y="2468880"/>
            <a:ext cx="4754880" cy="9144"/>
          </a:xfrm>
          <a:prstGeom prst="rect">
            <a:avLst/>
          </a:prstGeom>
          <a:solidFill>
            <a:srgbClr val="2E2B43"/>
          </a:solidFill>
          <a:ln/>
        </p:spPr>
      </p:sp>
      <p:sp>
        <p:nvSpPr>
          <p:cNvPr id="10" name="Text 8"/>
          <p:cNvSpPr/>
          <p:nvPr/>
        </p:nvSpPr>
        <p:spPr>
          <a:xfrm>
            <a:off x="548640" y="2743200"/>
            <a:ext cx="4754880" cy="3383280"/>
          </a:xfrm>
          <a:prstGeom prst="rect">
            <a:avLst/>
          </a:prstGeom>
          <a:noFill/>
          <a:ln/>
        </p:spPr>
        <p:txBody>
          <a:bodyPr wrap="square" rtlCol="0" anchor="t"/>
          <a:lstStyle/>
          <a:p>
            <a:pPr marL="0" indent="0">
              <a:lnSpc>
                <a:spcPts val="1300"/>
              </a:lnSpc>
              <a:buNone/>
            </a:pPr>
            <a:r>
              <a:rPr lang="en-US" sz="1050" b="1" dirty="0">
                <a:solidFill>
                  <a:srgbClr val="FF7E5F"/>
                </a:solidFill>
                <a:latin typeface="Segoe UI" pitchFamily="34" charset="0"/>
                <a:ea typeface="Segoe UI" pitchFamily="34" charset="-122"/>
                <a:cs typeface="Segoe UI" pitchFamily="34" charset="-120"/>
              </a:rPr>
              <a:t>• Target Variable: </a:t>
            </a:r>
            <a:r>
              <a:rPr lang="en-US" sz="1050" dirty="0">
                <a:solidFill>
                  <a:srgbClr val="FFFFFE"/>
                </a:solidFill>
                <a:latin typeface="Segoe UI" pitchFamily="34" charset="0"/>
                <a:ea typeface="Segoe UI" pitchFamily="34" charset="-122"/>
                <a:cs typeface="Segoe UI" pitchFamily="34" charset="-120"/>
              </a:rPr>
              <a:t>SalePrice ($34,900 – $755,000 | Mean: $180,921).
</a:t>
            </a:r>
            <a:r>
              <a:rPr lang="en-US" sz="1050" b="1" dirty="0">
                <a:solidFill>
                  <a:srgbClr val="FF7E5F"/>
                </a:solidFill>
                <a:latin typeface="Segoe UI" pitchFamily="34" charset="0"/>
                <a:ea typeface="Segoe UI" pitchFamily="34" charset="-122"/>
                <a:cs typeface="Segoe UI" pitchFamily="34" charset="-120"/>
              </a:rPr>
              <a:t>• Feature Breakdowns: </a:t>
            </a:r>
            <a:r>
              <a:rPr lang="en-US" sz="1050" dirty="0">
                <a:solidFill>
                  <a:srgbClr val="FFFFFE"/>
                </a:solidFill>
                <a:latin typeface="Segoe UI" pitchFamily="34" charset="0"/>
                <a:ea typeface="Segoe UI" pitchFamily="34" charset="-122"/>
                <a:cs typeface="Segoe UI" pitchFamily="34" charset="-120"/>
              </a:rPr>
              <a:t>43 object/categorical, 35 int64 features, 3 float64 features.
</a:t>
            </a:r>
            <a:r>
              <a:rPr lang="en-US" sz="1050" b="1" dirty="0">
                <a:solidFill>
                  <a:srgbClr val="FF7E5F"/>
                </a:solidFill>
                <a:latin typeface="Segoe UI" pitchFamily="34" charset="0"/>
                <a:ea typeface="Segoe UI" pitchFamily="34" charset="-122"/>
                <a:cs typeface="Segoe UI" pitchFamily="34" charset="-120"/>
              </a:rPr>
              <a:t>• Drop Threshold (&gt;80% missing):
</a:t>
            </a:r>
            <a:r>
              <a:rPr lang="en-US" sz="1050" dirty="0">
                <a:solidFill>
                  <a:srgbClr val="E2E2EC"/>
                </a:solidFill>
                <a:latin typeface="Segoe UI" pitchFamily="34" charset="0"/>
                <a:ea typeface="Segoe UI" pitchFamily="34" charset="-122"/>
                <a:cs typeface="Segoe UI" pitchFamily="34" charset="-120"/>
              </a:rPr>
              <a:t>Alley (93.8%), PoolQC (99.5%), Fence (80.8%), and MiscFeature (96.3%) were removed completely.
</a:t>
            </a:r>
            <a:r>
              <a:rPr lang="en-US" sz="1050" b="1" dirty="0">
                <a:solidFill>
                  <a:srgbClr val="FF7E5F"/>
                </a:solidFill>
                <a:latin typeface="Segoe UI" pitchFamily="34" charset="0"/>
                <a:ea typeface="Segoe UI" pitchFamily="34" charset="-122"/>
                <a:cs typeface="Segoe UI" pitchFamily="34" charset="-120"/>
              </a:rPr>
              <a:t>• Indexing Filter: </a:t>
            </a:r>
            <a:r>
              <a:rPr lang="en-US" sz="1050" dirty="0">
                <a:solidFill>
                  <a:srgbClr val="E2E2EC"/>
                </a:solidFill>
                <a:latin typeface="Segoe UI" pitchFamily="34" charset="0"/>
                <a:ea typeface="Segoe UI" pitchFamily="34" charset="-122"/>
                <a:cs typeface="Segoe UI" pitchFamily="34" charset="-120"/>
              </a:rPr>
              <a:t>Dropped the unique Id column to prevent database index overfitting.</a:t>
            </a:r>
            <a:endParaRPr lang="en-US" sz="1050" dirty="0"/>
          </a:p>
        </p:txBody>
      </p:sp>
      <p:sp>
        <p:nvSpPr>
          <p:cNvPr id="11" name="Shape 9"/>
          <p:cNvSpPr/>
          <p:nvPr/>
        </p:nvSpPr>
        <p:spPr>
          <a:xfrm>
            <a:off x="5852160" y="1371600"/>
            <a:ext cx="5760720" cy="4389120"/>
          </a:xfrm>
          <a:prstGeom prst="rect">
            <a:avLst/>
          </a:prstGeom>
          <a:solidFill>
            <a:srgbClr val="FFFFFF"/>
          </a:solidFill>
          <a:ln w="12700">
            <a:solidFill>
              <a:srgbClr val="E2E8F0"/>
            </a:solidFill>
            <a:prstDash val="solid"/>
          </a:ln>
        </p:spPr>
      </p:sp>
      <p:pic>
        <p:nvPicPr>
          <p:cNvPr id="12" name="Image 0" descr="C:\Users\PRO\Desktop\data_science_project\reports\figures\fig6_missing_heatmap.png"/>
          <p:cNvPicPr>
            <a:picLocks noChangeAspect="1"/>
          </p:cNvPicPr>
          <p:nvPr/>
        </p:nvPicPr>
        <p:blipFill>
          <a:blip r:embed="rId3"/>
          <a:stretch>
            <a:fillRect/>
          </a:stretch>
        </p:blipFill>
        <p:spPr>
          <a:xfrm>
            <a:off x="6035040" y="1554480"/>
            <a:ext cx="5394960" cy="4023360"/>
          </a:xfrm>
          <a:prstGeom prst="rect">
            <a:avLst/>
          </a:prstGeom>
        </p:spPr>
      </p:pic>
      <p:sp>
        <p:nvSpPr>
          <p:cNvPr id="13"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Data Wrangling: Imputation &amp; Outliers</a:t>
            </a:r>
            <a:endParaRPr lang="en-US" sz="2400" dirty="0"/>
          </a:p>
        </p:txBody>
      </p:sp>
      <p:sp>
        <p:nvSpPr>
          <p:cNvPr id="4" name="Shape 2"/>
          <p:cNvSpPr/>
          <p:nvPr/>
        </p:nvSpPr>
        <p:spPr>
          <a:xfrm>
            <a:off x="548640" y="1051560"/>
            <a:ext cx="11064240" cy="18288"/>
          </a:xfrm>
          <a:prstGeom prst="rect">
            <a:avLst/>
          </a:prstGeom>
          <a:solidFill>
            <a:srgbClr val="FF7E5F"/>
          </a:solidFill>
          <a:ln/>
        </p:spPr>
      </p:sp>
      <p:sp>
        <p:nvSpPr>
          <p:cNvPr id="5" name="Text 3"/>
          <p:cNvSpPr/>
          <p:nvPr/>
        </p:nvSpPr>
        <p:spPr>
          <a:xfrm>
            <a:off x="548640" y="1371600"/>
            <a:ext cx="4754880" cy="228600"/>
          </a:xfrm>
          <a:prstGeom prst="rect">
            <a:avLst/>
          </a:prstGeom>
          <a:noFill/>
          <a:ln/>
        </p:spPr>
        <p:txBody>
          <a:bodyPr wrap="square" rtlCol="0" anchor="ctr"/>
          <a:lstStyle/>
          <a:p>
            <a:pPr marL="0" indent="0">
              <a:buNone/>
            </a:pPr>
            <a:r>
              <a:rPr lang="en-US" sz="1200" b="1" dirty="0">
                <a:solidFill>
                  <a:srgbClr val="FF7E5F"/>
                </a:solidFill>
                <a:latin typeface="Trebuchet MS" pitchFamily="34" charset="0"/>
                <a:ea typeface="Trebuchet MS" pitchFamily="34" charset="-122"/>
                <a:cs typeface="Trebuchet MS" pitchFamily="34" charset="-120"/>
              </a:rPr>
              <a:t>IMPUTATION &amp; FEATURE ENCODING</a:t>
            </a:r>
            <a:endParaRPr lang="en-US" sz="1200" dirty="0"/>
          </a:p>
        </p:txBody>
      </p:sp>
      <p:sp>
        <p:nvSpPr>
          <p:cNvPr id="6" name="Text 4"/>
          <p:cNvSpPr/>
          <p:nvPr/>
        </p:nvSpPr>
        <p:spPr>
          <a:xfrm>
            <a:off x="548640" y="1645920"/>
            <a:ext cx="4754880" cy="1188720"/>
          </a:xfrm>
          <a:prstGeom prst="rect">
            <a:avLst/>
          </a:prstGeom>
          <a:noFill/>
          <a:ln/>
        </p:spPr>
        <p:txBody>
          <a:bodyPr wrap="square" rtlCol="0" anchor="t"/>
          <a:lstStyle/>
          <a:p>
            <a:pPr marL="0" indent="0">
              <a:lnSpc>
                <a:spcPts val="1200"/>
              </a:lnSpc>
              <a:buNone/>
            </a:pPr>
            <a:r>
              <a:rPr lang="en-US" sz="1000" b="1" dirty="0">
                <a:solidFill>
                  <a:srgbClr val="FF7E5F"/>
                </a:solidFill>
                <a:latin typeface="Segoe UI" pitchFamily="34" charset="0"/>
                <a:ea typeface="Segoe UI" pitchFamily="34" charset="-122"/>
                <a:cs typeface="Segoe UI" pitchFamily="34" charset="-120"/>
              </a:rPr>
              <a:t>• Imputations: </a:t>
            </a:r>
            <a:r>
              <a:rPr lang="en-US" sz="1000" dirty="0">
                <a:solidFill>
                  <a:srgbClr val="FFFFFE"/>
                </a:solidFill>
                <a:latin typeface="Segoe UI" pitchFamily="34" charset="0"/>
                <a:ea typeface="Segoe UI" pitchFamily="34" charset="-122"/>
                <a:cs typeface="Segoe UI" pitchFamily="34" charset="-120"/>
              </a:rPr>
              <a:t>Median for LotFrontage/GarageYrBlt. Mode for BsmtQual/GarageType/FireplaceQu.
</a:t>
            </a:r>
            <a:r>
              <a:rPr lang="en-US" sz="1000" b="1" dirty="0">
                <a:solidFill>
                  <a:srgbClr val="FF7E5F"/>
                </a:solidFill>
                <a:latin typeface="Segoe UI" pitchFamily="34" charset="0"/>
                <a:ea typeface="Segoe UI" pitchFamily="34" charset="-122"/>
                <a:cs typeface="Segoe UI" pitchFamily="34" charset="-120"/>
              </a:rPr>
              <a:t>• Encodings: </a:t>
            </a:r>
            <a:r>
              <a:rPr lang="en-US" sz="1000" dirty="0">
                <a:solidFill>
                  <a:srgbClr val="FFFFFE"/>
                </a:solidFill>
                <a:latin typeface="Segoe UI" pitchFamily="34" charset="0"/>
                <a:ea typeface="Segoe UI" pitchFamily="34" charset="-122"/>
                <a:cs typeface="Segoe UI" pitchFamily="34" charset="-120"/>
              </a:rPr>
              <a:t>9 quality variables mapped ordinally (1 to 5). 30 nominal features one-hot encoded, yielding 213 numeric dimensions.</a:t>
            </a:r>
            <a:endParaRPr lang="en-US" sz="1000" dirty="0"/>
          </a:p>
        </p:txBody>
      </p:sp>
      <p:sp>
        <p:nvSpPr>
          <p:cNvPr id="7" name="Shape 5"/>
          <p:cNvSpPr/>
          <p:nvPr/>
        </p:nvSpPr>
        <p:spPr>
          <a:xfrm>
            <a:off x="548640" y="2971800"/>
            <a:ext cx="4754880" cy="9144"/>
          </a:xfrm>
          <a:prstGeom prst="rect">
            <a:avLst/>
          </a:prstGeom>
          <a:solidFill>
            <a:srgbClr val="2E2B43"/>
          </a:solidFill>
          <a:ln/>
        </p:spPr>
      </p:sp>
      <p:sp>
        <p:nvSpPr>
          <p:cNvPr id="8" name="Text 6"/>
          <p:cNvSpPr/>
          <p:nvPr/>
        </p:nvSpPr>
        <p:spPr>
          <a:xfrm>
            <a:off x="548640" y="3108960"/>
            <a:ext cx="4754880" cy="228600"/>
          </a:xfrm>
          <a:prstGeom prst="rect">
            <a:avLst/>
          </a:prstGeom>
          <a:noFill/>
          <a:ln/>
        </p:spPr>
        <p:txBody>
          <a:bodyPr wrap="square" rtlCol="0" anchor="ctr"/>
          <a:lstStyle/>
          <a:p>
            <a:pPr marL="0" indent="0">
              <a:buNone/>
            </a:pPr>
            <a:r>
              <a:rPr lang="en-US" sz="1100" b="1" dirty="0">
                <a:solidFill>
                  <a:srgbClr val="FFFFFE"/>
                </a:solidFill>
                <a:latin typeface="Trebuchet MS" pitchFamily="34" charset="0"/>
                <a:ea typeface="Trebuchet MS" pitchFamily="34" charset="-122"/>
                <a:cs typeface="Trebuchet MS" pitchFamily="34" charset="-120"/>
              </a:rPr>
              <a:t>OUTLIER METHOD METHODOLOGY AUDIT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383280"/>
          <a:ext cx="4754880" cy="1097280"/>
        </p:xfrm>
        <a:graphic>
          <a:graphicData uri="http://schemas.openxmlformats.org/drawingml/2006/table">
            <a:tbl>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tblGrid>
              <a:tr h="274320">
                <a:tc>
                  <a:txBody>
                    <a:bodyPr/>
                    <a:lstStyle/>
                    <a:p>
                      <a:pPr marL="0" indent="0" algn="ctr">
                        <a:buNone/>
                      </a:pPr>
                      <a:r>
                        <a:rPr lang="en-US" sz="850" b="1" dirty="0">
                          <a:solidFill>
                            <a:srgbClr val="FF7E5F"/>
                          </a:solidFill>
                          <a:latin typeface="Trebuchet MS" pitchFamily="34" charset="0"/>
                          <a:ea typeface="Trebuchet MS" pitchFamily="34" charset="-122"/>
                          <a:cs typeface="Trebuchet MS" pitchFamily="34" charset="-120"/>
                        </a:rPr>
                        <a:t>Feature Name</a:t>
                      </a:r>
                      <a:endParaRPr lang="en-US" sz="8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b="1" dirty="0">
                          <a:solidFill>
                            <a:srgbClr val="FF7E5F"/>
                          </a:solidFill>
                          <a:latin typeface="Trebuchet MS" pitchFamily="34" charset="0"/>
                          <a:ea typeface="Trebuchet MS" pitchFamily="34" charset="-122"/>
                          <a:cs typeface="Trebuchet MS" pitchFamily="34" charset="-120"/>
                        </a:rPr>
                        <a:t>IQR Outliers (1.5×)</a:t>
                      </a:r>
                      <a:endParaRPr lang="en-US" sz="8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b="1" dirty="0">
                          <a:solidFill>
                            <a:srgbClr val="FF7E5F"/>
                          </a:solidFill>
                          <a:latin typeface="Trebuchet MS" pitchFamily="34" charset="0"/>
                          <a:ea typeface="Trebuchet MS" pitchFamily="34" charset="-122"/>
                          <a:cs typeface="Trebuchet MS" pitchFamily="34" charset="-120"/>
                        </a:rPr>
                        <a:t>Z-Score Outliers (|z|&gt;3)</a:t>
                      </a:r>
                      <a:endParaRPr lang="en-US" sz="8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0"/>
                  </a:ext>
                </a:extLst>
              </a:tr>
              <a:tr h="274320">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SalePrice</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61 rows</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22 rows</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1"/>
                  </a:ext>
                </a:extLst>
              </a:tr>
              <a:tr h="274320">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LotArea</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69 rows</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13 rows</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2"/>
                  </a:ext>
                </a:extLst>
              </a:tr>
              <a:tr h="274320">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GrLivArea</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31 rows</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16 rows</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3"/>
                  </a:ext>
                </a:extLst>
              </a:tr>
            </a:tbl>
          </a:graphicData>
        </a:graphic>
      </p:graphicFrame>
      <p:sp>
        <p:nvSpPr>
          <p:cNvPr id="10" name="Shape 7"/>
          <p:cNvSpPr/>
          <p:nvPr/>
        </p:nvSpPr>
        <p:spPr>
          <a:xfrm>
            <a:off x="548640" y="3383280"/>
            <a:ext cx="4754880" cy="18288"/>
          </a:xfrm>
          <a:prstGeom prst="rect">
            <a:avLst/>
          </a:prstGeom>
          <a:solidFill>
            <a:srgbClr val="FF7E5F"/>
          </a:solidFill>
          <a:ln/>
        </p:spPr>
      </p:sp>
      <p:sp>
        <p:nvSpPr>
          <p:cNvPr id="11" name="Shape 8"/>
          <p:cNvSpPr/>
          <p:nvPr/>
        </p:nvSpPr>
        <p:spPr>
          <a:xfrm>
            <a:off x="548640" y="3703320"/>
            <a:ext cx="4754880" cy="9144"/>
          </a:xfrm>
          <a:prstGeom prst="rect">
            <a:avLst/>
          </a:prstGeom>
          <a:solidFill>
            <a:srgbClr val="2E2B43"/>
          </a:solidFill>
          <a:ln/>
        </p:spPr>
      </p:sp>
      <p:sp>
        <p:nvSpPr>
          <p:cNvPr id="12" name="Shape 9"/>
          <p:cNvSpPr/>
          <p:nvPr/>
        </p:nvSpPr>
        <p:spPr>
          <a:xfrm>
            <a:off x="548640" y="4480560"/>
            <a:ext cx="4754880" cy="18288"/>
          </a:xfrm>
          <a:prstGeom prst="rect">
            <a:avLst/>
          </a:prstGeom>
          <a:solidFill>
            <a:srgbClr val="FF7E5F"/>
          </a:solidFill>
          <a:ln/>
        </p:spPr>
      </p:sp>
      <p:sp>
        <p:nvSpPr>
          <p:cNvPr id="13" name="Text 10"/>
          <p:cNvSpPr/>
          <p:nvPr/>
        </p:nvSpPr>
        <p:spPr>
          <a:xfrm>
            <a:off x="548640" y="4572000"/>
            <a:ext cx="4754880" cy="731520"/>
          </a:xfrm>
          <a:prstGeom prst="rect">
            <a:avLst/>
          </a:prstGeom>
          <a:noFill/>
          <a:ln/>
        </p:spPr>
        <p:txBody>
          <a:bodyPr wrap="square" rtlCol="0" anchor="ctr"/>
          <a:lstStyle/>
          <a:p>
            <a:pPr marL="0" indent="0">
              <a:lnSpc>
                <a:spcPts val="1100"/>
              </a:lnSpc>
              <a:buNone/>
            </a:pPr>
            <a:r>
              <a:rPr lang="en-US" sz="900" dirty="0">
                <a:solidFill>
                  <a:srgbClr val="E2E2EC"/>
                </a:solidFill>
                <a:latin typeface="Segoe UI" pitchFamily="34" charset="0"/>
                <a:ea typeface="Segoe UI" pitchFamily="34" charset="-122"/>
                <a:cs typeface="Segoe UI" pitchFamily="34" charset="-120"/>
              </a:rPr>
              <a:t>Analysis: Right-skewness causes IQR to over-flag. We retained rows to save luxury properties, but applied np.log1p on target to reduce leverage impacts.</a:t>
            </a:r>
            <a:endParaRPr lang="en-US" sz="900" dirty="0"/>
          </a:p>
        </p:txBody>
      </p:sp>
      <p:sp>
        <p:nvSpPr>
          <p:cNvPr id="14" name="Shape 11"/>
          <p:cNvSpPr/>
          <p:nvPr/>
        </p:nvSpPr>
        <p:spPr>
          <a:xfrm>
            <a:off x="5852160" y="1371600"/>
            <a:ext cx="5760720" cy="4389120"/>
          </a:xfrm>
          <a:prstGeom prst="rect">
            <a:avLst/>
          </a:prstGeom>
          <a:solidFill>
            <a:srgbClr val="FFFFFF"/>
          </a:solidFill>
          <a:ln w="12700">
            <a:solidFill>
              <a:srgbClr val="E2E8F0"/>
            </a:solidFill>
            <a:prstDash val="solid"/>
          </a:ln>
        </p:spPr>
      </p:sp>
      <p:pic>
        <p:nvPicPr>
          <p:cNvPr id="15" name="Image 0" descr="C:\Users\PRO\Desktop\data_science_project\reports\figures\fig8_outlier_boxplots.png"/>
          <p:cNvPicPr>
            <a:picLocks noChangeAspect="1"/>
          </p:cNvPicPr>
          <p:nvPr/>
        </p:nvPicPr>
        <p:blipFill>
          <a:blip r:embed="rId3"/>
          <a:stretch>
            <a:fillRect/>
          </a:stretch>
        </p:blipFill>
        <p:spPr>
          <a:xfrm>
            <a:off x="6035040" y="1554480"/>
            <a:ext cx="5394960" cy="4023360"/>
          </a:xfrm>
          <a:prstGeom prst="rect">
            <a:avLst/>
          </a:prstGeom>
        </p:spPr>
      </p:pic>
      <p:sp>
        <p:nvSpPr>
          <p:cNvPr id="16"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EDA — Core Predictors: Quality, Size &amp; Age</a:t>
            </a:r>
            <a:endParaRPr lang="en-US" sz="2400" dirty="0"/>
          </a:p>
        </p:txBody>
      </p:sp>
      <p:sp>
        <p:nvSpPr>
          <p:cNvPr id="4" name="Shape 2"/>
          <p:cNvSpPr/>
          <p:nvPr/>
        </p:nvSpPr>
        <p:spPr>
          <a:xfrm>
            <a:off x="548640" y="1051560"/>
            <a:ext cx="11064240" cy="18288"/>
          </a:xfrm>
          <a:prstGeom prst="rect">
            <a:avLst/>
          </a:prstGeom>
          <a:solidFill>
            <a:srgbClr val="FF7E5F"/>
          </a:solidFill>
          <a:ln/>
        </p:spPr>
      </p:sp>
      <p:sp>
        <p:nvSpPr>
          <p:cNvPr id="5" name="Shape 3"/>
          <p:cNvSpPr/>
          <p:nvPr/>
        </p:nvSpPr>
        <p:spPr>
          <a:xfrm>
            <a:off x="548640" y="1371600"/>
            <a:ext cx="5303520" cy="3840480"/>
          </a:xfrm>
          <a:prstGeom prst="rect">
            <a:avLst/>
          </a:prstGeom>
          <a:solidFill>
            <a:srgbClr val="FFFFFF"/>
          </a:solidFill>
          <a:ln w="12700">
            <a:solidFill>
              <a:srgbClr val="E2E8F0"/>
            </a:solidFill>
            <a:prstDash val="solid"/>
          </a:ln>
        </p:spPr>
      </p:sp>
      <p:pic>
        <p:nvPicPr>
          <p:cNvPr id="6" name="Image 0" descr="C:\Users\PRO\Desktop\data_science_project\reports\figures\fig3_price_vs_quality.png"/>
          <p:cNvPicPr>
            <a:picLocks noChangeAspect="1"/>
          </p:cNvPicPr>
          <p:nvPr/>
        </p:nvPicPr>
        <p:blipFill>
          <a:blip r:embed="rId3"/>
          <a:stretch>
            <a:fillRect/>
          </a:stretch>
        </p:blipFill>
        <p:spPr>
          <a:xfrm>
            <a:off x="731520" y="1463040"/>
            <a:ext cx="4937760" cy="3657600"/>
          </a:xfrm>
          <a:prstGeom prst="rect">
            <a:avLst/>
          </a:prstGeom>
        </p:spPr>
      </p:pic>
      <p:sp>
        <p:nvSpPr>
          <p:cNvPr id="7" name="Shape 4"/>
          <p:cNvSpPr/>
          <p:nvPr/>
        </p:nvSpPr>
        <p:spPr>
          <a:xfrm>
            <a:off x="6217920" y="1371600"/>
            <a:ext cx="5394960" cy="3840480"/>
          </a:xfrm>
          <a:prstGeom prst="rect">
            <a:avLst/>
          </a:prstGeom>
          <a:solidFill>
            <a:srgbClr val="FFFFFF"/>
          </a:solidFill>
          <a:ln w="12700">
            <a:solidFill>
              <a:srgbClr val="E2E8F0"/>
            </a:solidFill>
            <a:prstDash val="solid"/>
          </a:ln>
        </p:spPr>
      </p:sp>
      <p:pic>
        <p:nvPicPr>
          <p:cNvPr id="8" name="Image 1" descr="C:\Users\PRO\Desktop\data_science_project\reports\figures\fig4_price_vs_livingarea.png"/>
          <p:cNvPicPr>
            <a:picLocks noChangeAspect="1"/>
          </p:cNvPicPr>
          <p:nvPr/>
        </p:nvPicPr>
        <p:blipFill>
          <a:blip r:embed="rId4"/>
          <a:stretch>
            <a:fillRect/>
          </a:stretch>
        </p:blipFill>
        <p:spPr>
          <a:xfrm>
            <a:off x="6400800" y="1463040"/>
            <a:ext cx="5029200" cy="3657600"/>
          </a:xfrm>
          <a:prstGeom prst="rect">
            <a:avLst/>
          </a:prstGeom>
        </p:spPr>
      </p:pic>
      <p:sp>
        <p:nvSpPr>
          <p:cNvPr id="9" name="Shape 5"/>
          <p:cNvSpPr/>
          <p:nvPr/>
        </p:nvSpPr>
        <p:spPr>
          <a:xfrm>
            <a:off x="548640" y="5394960"/>
            <a:ext cx="11064240" cy="9144"/>
          </a:xfrm>
          <a:prstGeom prst="rect">
            <a:avLst/>
          </a:prstGeom>
          <a:solidFill>
            <a:srgbClr val="2E2B43"/>
          </a:solidFill>
          <a:ln/>
        </p:spPr>
      </p:sp>
      <p:sp>
        <p:nvSpPr>
          <p:cNvPr id="10" name="Shape 6"/>
          <p:cNvSpPr/>
          <p:nvPr/>
        </p:nvSpPr>
        <p:spPr>
          <a:xfrm>
            <a:off x="548640" y="5577840"/>
            <a:ext cx="45720" cy="457200"/>
          </a:xfrm>
          <a:prstGeom prst="rect">
            <a:avLst/>
          </a:prstGeom>
          <a:solidFill>
            <a:srgbClr val="FF7E5F"/>
          </a:solidFill>
          <a:ln/>
        </p:spPr>
      </p:sp>
      <p:sp>
        <p:nvSpPr>
          <p:cNvPr id="11" name="Text 7"/>
          <p:cNvSpPr/>
          <p:nvPr/>
        </p:nvSpPr>
        <p:spPr>
          <a:xfrm>
            <a:off x="731520" y="5486400"/>
            <a:ext cx="10881360" cy="640080"/>
          </a:xfrm>
          <a:prstGeom prst="rect">
            <a:avLst/>
          </a:prstGeom>
          <a:noFill/>
          <a:ln/>
        </p:spPr>
        <p:txBody>
          <a:bodyPr wrap="square" rtlCol="0" anchor="ctr"/>
          <a:lstStyle/>
          <a:p>
            <a:pPr marL="0" indent="0">
              <a:buNone/>
            </a:pPr>
            <a:r>
              <a:rPr lang="en-US" sz="1050" dirty="0">
                <a:solidFill>
                  <a:srgbClr val="E2E2EC"/>
                </a:solidFill>
                <a:latin typeface="Segoe UI" pitchFamily="34" charset="0"/>
                <a:ea typeface="Segoe UI" pitchFamily="34" charset="-122"/>
                <a:cs typeface="Segoe UI" pitchFamily="34" charset="-120"/>
              </a:rPr>
              <a:t>Insights: [Left] Overall Quality exhibits monotonic growth with rapid exponential pricing jumps at Quality 7+ (luxury threshold). [Right] Above-grade living area shows strong linear correlation with target (r=0.71), with high-leverage outliers visible above 4,000 sq ft.</a:t>
            </a:r>
            <a:endParaRPr lang="en-US" sz="1050" dirty="0"/>
          </a:p>
        </p:txBody>
      </p:sp>
      <p:sp>
        <p:nvSpPr>
          <p:cNvPr id="12"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EDA — Location Variance &amp; Target Skewness</a:t>
            </a:r>
            <a:endParaRPr lang="en-US" sz="2400" dirty="0"/>
          </a:p>
        </p:txBody>
      </p:sp>
      <p:sp>
        <p:nvSpPr>
          <p:cNvPr id="4" name="Shape 2"/>
          <p:cNvSpPr/>
          <p:nvPr/>
        </p:nvSpPr>
        <p:spPr>
          <a:xfrm>
            <a:off x="548640" y="1051560"/>
            <a:ext cx="11064240" cy="18288"/>
          </a:xfrm>
          <a:prstGeom prst="rect">
            <a:avLst/>
          </a:prstGeom>
          <a:solidFill>
            <a:srgbClr val="FF7E5F"/>
          </a:solidFill>
          <a:ln/>
        </p:spPr>
      </p:sp>
      <p:sp>
        <p:nvSpPr>
          <p:cNvPr id="5" name="Shape 3"/>
          <p:cNvSpPr/>
          <p:nvPr/>
        </p:nvSpPr>
        <p:spPr>
          <a:xfrm>
            <a:off x="548640" y="1371600"/>
            <a:ext cx="5303520" cy="3840480"/>
          </a:xfrm>
          <a:prstGeom prst="rect">
            <a:avLst/>
          </a:prstGeom>
          <a:solidFill>
            <a:srgbClr val="FFFFFF"/>
          </a:solidFill>
          <a:ln w="12700">
            <a:solidFill>
              <a:srgbClr val="E2E8F0"/>
            </a:solidFill>
            <a:prstDash val="solid"/>
          </a:ln>
        </p:spPr>
      </p:sp>
      <p:pic>
        <p:nvPicPr>
          <p:cNvPr id="6" name="Image 0" descr="C:\Users\PRO\Desktop\data_science_project\reports\figures\fig7_price_by_neighborhood.png"/>
          <p:cNvPicPr>
            <a:picLocks noChangeAspect="1"/>
          </p:cNvPicPr>
          <p:nvPr/>
        </p:nvPicPr>
        <p:blipFill>
          <a:blip r:embed="rId3"/>
          <a:stretch>
            <a:fillRect/>
          </a:stretch>
        </p:blipFill>
        <p:spPr>
          <a:xfrm>
            <a:off x="731520" y="1463040"/>
            <a:ext cx="4937760" cy="3657600"/>
          </a:xfrm>
          <a:prstGeom prst="rect">
            <a:avLst/>
          </a:prstGeom>
        </p:spPr>
      </p:pic>
      <p:sp>
        <p:nvSpPr>
          <p:cNvPr id="7" name="Shape 4"/>
          <p:cNvSpPr/>
          <p:nvPr/>
        </p:nvSpPr>
        <p:spPr>
          <a:xfrm>
            <a:off x="6217920" y="1371600"/>
            <a:ext cx="5394960" cy="3840480"/>
          </a:xfrm>
          <a:prstGeom prst="rect">
            <a:avLst/>
          </a:prstGeom>
          <a:solidFill>
            <a:srgbClr val="FFFFFF"/>
          </a:solidFill>
          <a:ln w="12700">
            <a:solidFill>
              <a:srgbClr val="E2E8F0"/>
            </a:solidFill>
            <a:prstDash val="solid"/>
          </a:ln>
        </p:spPr>
      </p:sp>
      <p:pic>
        <p:nvPicPr>
          <p:cNvPr id="8" name="Image 1" descr="C:\Users\PRO\Desktop\data_science_project\reports\figures\fig1_saleprice_dist.png"/>
          <p:cNvPicPr>
            <a:picLocks noChangeAspect="1"/>
          </p:cNvPicPr>
          <p:nvPr/>
        </p:nvPicPr>
        <p:blipFill>
          <a:blip r:embed="rId4"/>
          <a:stretch>
            <a:fillRect/>
          </a:stretch>
        </p:blipFill>
        <p:spPr>
          <a:xfrm>
            <a:off x="6400800" y="1463040"/>
            <a:ext cx="5029200" cy="3657600"/>
          </a:xfrm>
          <a:prstGeom prst="rect">
            <a:avLst/>
          </a:prstGeom>
        </p:spPr>
      </p:pic>
      <p:sp>
        <p:nvSpPr>
          <p:cNvPr id="9" name="Shape 5"/>
          <p:cNvSpPr/>
          <p:nvPr/>
        </p:nvSpPr>
        <p:spPr>
          <a:xfrm>
            <a:off x="548640" y="5394960"/>
            <a:ext cx="11064240" cy="9144"/>
          </a:xfrm>
          <a:prstGeom prst="rect">
            <a:avLst/>
          </a:prstGeom>
          <a:solidFill>
            <a:srgbClr val="2E2B43"/>
          </a:solidFill>
          <a:ln/>
        </p:spPr>
      </p:sp>
      <p:sp>
        <p:nvSpPr>
          <p:cNvPr id="10" name="Shape 6"/>
          <p:cNvSpPr/>
          <p:nvPr/>
        </p:nvSpPr>
        <p:spPr>
          <a:xfrm>
            <a:off x="548640" y="5577840"/>
            <a:ext cx="45720" cy="457200"/>
          </a:xfrm>
          <a:prstGeom prst="rect">
            <a:avLst/>
          </a:prstGeom>
          <a:solidFill>
            <a:srgbClr val="FF7E5F"/>
          </a:solidFill>
          <a:ln/>
        </p:spPr>
      </p:sp>
      <p:sp>
        <p:nvSpPr>
          <p:cNvPr id="11" name="Text 7"/>
          <p:cNvSpPr/>
          <p:nvPr/>
        </p:nvSpPr>
        <p:spPr>
          <a:xfrm>
            <a:off x="731520" y="5486400"/>
            <a:ext cx="10881360" cy="640080"/>
          </a:xfrm>
          <a:prstGeom prst="rect">
            <a:avLst/>
          </a:prstGeom>
          <a:noFill/>
          <a:ln/>
        </p:spPr>
        <p:txBody>
          <a:bodyPr wrap="square" rtlCol="0" anchor="ctr"/>
          <a:lstStyle/>
          <a:p>
            <a:pPr marL="0" indent="0">
              <a:buNone/>
            </a:pPr>
            <a:r>
              <a:rPr lang="en-US" sz="1050" dirty="0">
                <a:solidFill>
                  <a:srgbClr val="E2E2EC"/>
                </a:solidFill>
                <a:latin typeface="Segoe UI" pitchFamily="34" charset="0"/>
                <a:ea typeface="Segoe UI" pitchFamily="34" charset="-122"/>
                <a:cs typeface="Segoe UI" pitchFamily="34" charset="-120"/>
              </a:rPr>
              <a:t>Insights: [Left] Neighborhood medians span 5x from IDOTRR ($85K) to StoneBr ($438K), indicating massive location variance. [Right] Target variable shows high positive skewness (1.88). Applying a log-transform (np.log1p) normalizes residuals and satisfies linear modeling assumptions.</a:t>
            </a:r>
            <a:endParaRPr lang="en-US" sz="1050" dirty="0"/>
          </a:p>
        </p:txBody>
      </p:sp>
      <p:sp>
        <p:nvSpPr>
          <p:cNvPr id="12"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Feature Engineering &amp; Selection Heatmap</a:t>
            </a:r>
            <a:endParaRPr lang="en-US" sz="2400" dirty="0"/>
          </a:p>
        </p:txBody>
      </p:sp>
      <p:sp>
        <p:nvSpPr>
          <p:cNvPr id="4" name="Shape 2"/>
          <p:cNvSpPr/>
          <p:nvPr/>
        </p:nvSpPr>
        <p:spPr>
          <a:xfrm>
            <a:off x="548640" y="1051560"/>
            <a:ext cx="11064240" cy="18288"/>
          </a:xfrm>
          <a:prstGeom prst="rect">
            <a:avLst/>
          </a:prstGeom>
          <a:solidFill>
            <a:srgbClr val="FF7E5F"/>
          </a:solidFill>
          <a:ln/>
        </p:spPr>
      </p:sp>
      <p:sp>
        <p:nvSpPr>
          <p:cNvPr id="5" name="Text 3"/>
          <p:cNvSpPr/>
          <p:nvPr/>
        </p:nvSpPr>
        <p:spPr>
          <a:xfrm>
            <a:off x="548640" y="1371600"/>
            <a:ext cx="5120640" cy="274320"/>
          </a:xfrm>
          <a:prstGeom prst="rect">
            <a:avLst/>
          </a:prstGeom>
          <a:noFill/>
          <a:ln/>
        </p:spPr>
        <p:txBody>
          <a:bodyPr wrap="square" rtlCol="0" anchor="ctr"/>
          <a:lstStyle/>
          <a:p>
            <a:pPr marL="0" indent="0">
              <a:buNone/>
            </a:pPr>
            <a:r>
              <a:rPr lang="en-US" sz="1200" b="1" dirty="0">
                <a:solidFill>
                  <a:srgbClr val="FF7E5F"/>
                </a:solidFill>
                <a:latin typeface="Trebuchet MS" pitchFamily="34" charset="0"/>
                <a:ea typeface="Trebuchet MS" pitchFamily="34" charset="-122"/>
                <a:cs typeface="Trebuchet MS" pitchFamily="34" charset="-120"/>
              </a:rPr>
              <a:t>FEATURE CREATION LOG</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4937760" cy="1664208"/>
        </p:xfrm>
        <a:graphic>
          <a:graphicData uri="http://schemas.openxmlformats.org/drawingml/2006/table">
            <a:tbl>
              <a:tblPr/>
              <a:tblGrid>
                <a:gridCol w="12344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29184">
                <a:tc>
                  <a:txBody>
                    <a:bodyPr/>
                    <a:lstStyle/>
                    <a:p>
                      <a:pPr marL="0" indent="0" algn="ctr">
                        <a:buNone/>
                      </a:pPr>
                      <a:r>
                        <a:rPr lang="en-US" sz="850" b="1" dirty="0">
                          <a:solidFill>
                            <a:srgbClr val="FF7E5F"/>
                          </a:solidFill>
                          <a:latin typeface="Trebuchet MS" pitchFamily="34" charset="0"/>
                          <a:ea typeface="Trebuchet MS" pitchFamily="34" charset="-122"/>
                          <a:cs typeface="Trebuchet MS" pitchFamily="34" charset="-120"/>
                        </a:rPr>
                        <a:t>Feature</a:t>
                      </a:r>
                      <a:endParaRPr lang="en-US" sz="8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b="1" dirty="0">
                          <a:solidFill>
                            <a:srgbClr val="FF7E5F"/>
                          </a:solidFill>
                          <a:latin typeface="Trebuchet MS" pitchFamily="34" charset="0"/>
                          <a:ea typeface="Trebuchet MS" pitchFamily="34" charset="-122"/>
                          <a:cs typeface="Trebuchet MS" pitchFamily="34" charset="-120"/>
                        </a:rPr>
                        <a:t>Formula</a:t>
                      </a:r>
                      <a:endParaRPr lang="en-US" sz="8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b="1" dirty="0">
                          <a:solidFill>
                            <a:srgbClr val="FF7E5F"/>
                          </a:solidFill>
                          <a:latin typeface="Trebuchet MS" pitchFamily="34" charset="0"/>
                          <a:ea typeface="Trebuchet MS" pitchFamily="34" charset="-122"/>
                          <a:cs typeface="Trebuchet MS" pitchFamily="34" charset="-120"/>
                        </a:rPr>
                        <a:t>Pearson r</a:t>
                      </a:r>
                      <a:endParaRPr lang="en-US" sz="8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b="1" dirty="0">
                          <a:solidFill>
                            <a:srgbClr val="FF7E5F"/>
                          </a:solidFill>
                          <a:latin typeface="Trebuchet MS" pitchFamily="34" charset="0"/>
                          <a:ea typeface="Trebuchet MS" pitchFamily="34" charset="-122"/>
                          <a:cs typeface="Trebuchet MS" pitchFamily="34" charset="-120"/>
                        </a:rPr>
                        <a:t>Rank</a:t>
                      </a:r>
                      <a:endParaRPr lang="en-US" sz="8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0"/>
                  </a:ext>
                </a:extLst>
              </a:tr>
              <a:tr h="329184">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TotalSF</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GrLivArea + TotalBsmtSF</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b="1" dirty="0">
                          <a:solidFill>
                            <a:srgbClr val="FF7E5F"/>
                          </a:solidFill>
                          <a:latin typeface="Segoe UI" pitchFamily="34" charset="0"/>
                          <a:ea typeface="Segoe UI" pitchFamily="34" charset="-122"/>
                          <a:cs typeface="Segoe UI" pitchFamily="34" charset="-120"/>
                        </a:rPr>
                        <a:t>0.779</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b="1" dirty="0">
                          <a:solidFill>
                            <a:srgbClr val="FF7E5F"/>
                          </a:solidFill>
                          <a:latin typeface="Segoe UI" pitchFamily="34" charset="0"/>
                          <a:ea typeface="Segoe UI" pitchFamily="34" charset="-122"/>
                          <a:cs typeface="Segoe UI" pitchFamily="34" charset="-120"/>
                        </a:rPr>
                        <a:t>Rank #2</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1"/>
                  </a:ext>
                </a:extLst>
              </a:tr>
              <a:tr h="329184">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TotalBath</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FullBath + 0.5*HalfBath...</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b="1" dirty="0">
                          <a:solidFill>
                            <a:srgbClr val="FF7E5F"/>
                          </a:solidFill>
                          <a:latin typeface="Segoe UI" pitchFamily="34" charset="0"/>
                          <a:ea typeface="Segoe UI" pitchFamily="34" charset="-122"/>
                          <a:cs typeface="Segoe UI" pitchFamily="34" charset="-120"/>
                        </a:rPr>
                        <a:t>0.632</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b="1" dirty="0">
                          <a:solidFill>
                            <a:srgbClr val="FF7E5F"/>
                          </a:solidFill>
                          <a:latin typeface="Segoe UI" pitchFamily="34" charset="0"/>
                          <a:ea typeface="Segoe UI" pitchFamily="34" charset="-122"/>
                          <a:cs typeface="Segoe UI" pitchFamily="34" charset="-120"/>
                        </a:rPr>
                        <a:t>Rank #8</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2"/>
                  </a:ext>
                </a:extLst>
              </a:tr>
              <a:tr h="329184">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HouseAge</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2010 − YearBuilt</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b="1" dirty="0">
                          <a:solidFill>
                            <a:srgbClr val="FF7E5F"/>
                          </a:solidFill>
                          <a:latin typeface="Segoe UI" pitchFamily="34" charset="0"/>
                          <a:ea typeface="Segoe UI" pitchFamily="34" charset="-122"/>
                          <a:cs typeface="Segoe UI" pitchFamily="34" charset="-120"/>
                        </a:rPr>
                        <a:t>-0.523</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b="1" dirty="0">
                          <a:solidFill>
                            <a:srgbClr val="FF7E5F"/>
                          </a:solidFill>
                          <a:latin typeface="Segoe UI" pitchFamily="34" charset="0"/>
                          <a:ea typeface="Segoe UI" pitchFamily="34" charset="-122"/>
                          <a:cs typeface="Segoe UI" pitchFamily="34" charset="-120"/>
                        </a:rPr>
                        <a:t>Rank #14</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3"/>
                  </a:ext>
                </a:extLst>
              </a:tr>
              <a:tr h="329184">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TotalPorchSF</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WoodDeck + OpenPorch...</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0.390</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00" dirty="0">
                          <a:solidFill>
                            <a:srgbClr val="FFFFFE"/>
                          </a:solidFill>
                          <a:latin typeface="Segoe UI" pitchFamily="34" charset="0"/>
                          <a:ea typeface="Segoe UI" pitchFamily="34" charset="-122"/>
                          <a:cs typeface="Segoe UI" pitchFamily="34" charset="-120"/>
                        </a:rPr>
                        <a:t>Rank #28</a:t>
                      </a:r>
                      <a:endParaRPr lang="en-US" sz="8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4"/>
                  </a:ext>
                </a:extLst>
              </a:tr>
            </a:tbl>
          </a:graphicData>
        </a:graphic>
      </p:graphicFrame>
      <p:sp>
        <p:nvSpPr>
          <p:cNvPr id="7" name="Shape 4"/>
          <p:cNvSpPr/>
          <p:nvPr/>
        </p:nvSpPr>
        <p:spPr>
          <a:xfrm>
            <a:off x="548640" y="1737360"/>
            <a:ext cx="4937760" cy="18288"/>
          </a:xfrm>
          <a:prstGeom prst="rect">
            <a:avLst/>
          </a:prstGeom>
          <a:solidFill>
            <a:srgbClr val="FF7E5F"/>
          </a:solidFill>
          <a:ln/>
        </p:spPr>
      </p:sp>
      <p:sp>
        <p:nvSpPr>
          <p:cNvPr id="8" name="Shape 5"/>
          <p:cNvSpPr/>
          <p:nvPr/>
        </p:nvSpPr>
        <p:spPr>
          <a:xfrm>
            <a:off x="548640" y="2057400"/>
            <a:ext cx="4937760" cy="9144"/>
          </a:xfrm>
          <a:prstGeom prst="rect">
            <a:avLst/>
          </a:prstGeom>
          <a:solidFill>
            <a:srgbClr val="2E2B43"/>
          </a:solidFill>
          <a:ln/>
        </p:spPr>
      </p:sp>
      <p:sp>
        <p:nvSpPr>
          <p:cNvPr id="6" name="Shape 6"/>
          <p:cNvSpPr/>
          <p:nvPr/>
        </p:nvSpPr>
        <p:spPr>
          <a:xfrm>
            <a:off x="548640" y="3383280"/>
            <a:ext cx="4937760" cy="18288"/>
          </a:xfrm>
          <a:prstGeom prst="rect">
            <a:avLst/>
          </a:prstGeom>
          <a:solidFill>
            <a:srgbClr val="FF7E5F"/>
          </a:solidFill>
          <a:ln/>
        </p:spPr>
      </p:sp>
      <p:sp>
        <p:nvSpPr>
          <p:cNvPr id="10" name="Text 7"/>
          <p:cNvSpPr/>
          <p:nvPr/>
        </p:nvSpPr>
        <p:spPr>
          <a:xfrm>
            <a:off x="548640" y="3566160"/>
            <a:ext cx="4937760" cy="2194560"/>
          </a:xfrm>
          <a:prstGeom prst="rect">
            <a:avLst/>
          </a:prstGeom>
          <a:noFill/>
          <a:ln/>
        </p:spPr>
        <p:txBody>
          <a:bodyPr wrap="square" rtlCol="0" anchor="t"/>
          <a:lstStyle/>
          <a:p>
            <a:pPr marL="0" indent="0">
              <a:lnSpc>
                <a:spcPts val="1200"/>
              </a:lnSpc>
              <a:buNone/>
            </a:pPr>
            <a:r>
              <a:rPr lang="en-US" sz="1000" b="1" dirty="0">
                <a:solidFill>
                  <a:srgbClr val="FFFFFF"/>
                </a:solidFill>
                <a:latin typeface="Segoe UI" pitchFamily="34" charset="0"/>
                <a:ea typeface="Segoe UI" pitchFamily="34" charset="-122"/>
                <a:cs typeface="Segoe UI" pitchFamily="34" charset="-120"/>
              </a:rPr>
              <a:t>• Engineering Logic:
</a:t>
            </a:r>
            <a:r>
              <a:rPr lang="en-US" sz="1000" dirty="0">
                <a:solidFill>
                  <a:srgbClr val="E2E2EC"/>
                </a:solidFill>
                <a:latin typeface="Segoe UI" pitchFamily="34" charset="0"/>
                <a:ea typeface="Segoe UI" pitchFamily="34" charset="-122"/>
                <a:cs typeface="Segoe UI" pitchFamily="34" charset="-120"/>
              </a:rPr>
              <a:t>Combined features (e.g. TotalSF) exhibit higher correlation than parent features. HouseAge captures temporal decay patterns.
</a:t>
            </a:r>
            <a:r>
              <a:rPr lang="en-US" sz="1000" b="1" dirty="0">
                <a:solidFill>
                  <a:srgbClr val="FFFFFF"/>
                </a:solidFill>
                <a:latin typeface="Segoe UI" pitchFamily="34" charset="0"/>
                <a:ea typeface="Segoe UI" pitchFamily="34" charset="-122"/>
                <a:cs typeface="Segoe UI" pitchFamily="34" charset="-120"/>
              </a:rPr>
              <a:t>• Dimensionality Reduction:
</a:t>
            </a:r>
            <a:r>
              <a:rPr lang="en-US" sz="1000" dirty="0">
                <a:solidFill>
                  <a:srgbClr val="E2E2EC"/>
                </a:solidFill>
                <a:latin typeface="Segoe UI" pitchFamily="34" charset="0"/>
                <a:ea typeface="Segoe UI" pitchFamily="34" charset="-122"/>
                <a:cs typeface="Segoe UI" pitchFamily="34" charset="-120"/>
              </a:rPr>
              <a:t>Applied a Pearson correlation filter (|r| &gt;= 0.1) on one-hot features. Dropped 113 non-predictive variables, shrinking the feature space by 55% (from 213 down to 98 key inputs).</a:t>
            </a:r>
            <a:endParaRPr lang="en-US" sz="1000" dirty="0"/>
          </a:p>
        </p:txBody>
      </p:sp>
      <p:sp>
        <p:nvSpPr>
          <p:cNvPr id="11" name="Shape 8"/>
          <p:cNvSpPr/>
          <p:nvPr/>
        </p:nvSpPr>
        <p:spPr>
          <a:xfrm>
            <a:off x="5852160" y="1371600"/>
            <a:ext cx="5760720" cy="4389120"/>
          </a:xfrm>
          <a:prstGeom prst="rect">
            <a:avLst/>
          </a:prstGeom>
          <a:solidFill>
            <a:srgbClr val="FFFFFF"/>
          </a:solidFill>
          <a:ln w="12700">
            <a:solidFill>
              <a:srgbClr val="E2E8F0"/>
            </a:solidFill>
            <a:prstDash val="solid"/>
          </a:ln>
        </p:spPr>
      </p:sp>
      <p:pic>
        <p:nvPicPr>
          <p:cNvPr id="12" name="Image 0" descr="C:\Users\PRO\Desktop\data_science_project\reports\figures\fig2_correlation_heatmap.png"/>
          <p:cNvPicPr>
            <a:picLocks noChangeAspect="1"/>
          </p:cNvPicPr>
          <p:nvPr/>
        </p:nvPicPr>
        <p:blipFill>
          <a:blip r:embed="rId3"/>
          <a:stretch>
            <a:fillRect/>
          </a:stretch>
        </p:blipFill>
        <p:spPr>
          <a:xfrm>
            <a:off x="6035040" y="1554480"/>
            <a:ext cx="5394960" cy="4023360"/>
          </a:xfrm>
          <a:prstGeom prst="rect">
            <a:avLst/>
          </a:prstGeom>
        </p:spPr>
      </p:pic>
      <p:sp>
        <p:nvSpPr>
          <p:cNvPr id="13"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Data Management: SQLite &amp; Analytical Queries</a:t>
            </a:r>
            <a:endParaRPr lang="en-US" sz="2400" dirty="0"/>
          </a:p>
        </p:txBody>
      </p:sp>
      <p:sp>
        <p:nvSpPr>
          <p:cNvPr id="4" name="Shape 2"/>
          <p:cNvSpPr/>
          <p:nvPr/>
        </p:nvSpPr>
        <p:spPr>
          <a:xfrm>
            <a:off x="548640" y="1051560"/>
            <a:ext cx="11064240" cy="18288"/>
          </a:xfrm>
          <a:prstGeom prst="rect">
            <a:avLst/>
          </a:prstGeom>
          <a:solidFill>
            <a:srgbClr val="FF7E5F"/>
          </a:solidFill>
          <a:ln/>
        </p:spPr>
      </p:sp>
      <p:sp>
        <p:nvSpPr>
          <p:cNvPr id="5" name="Text 3"/>
          <p:cNvSpPr/>
          <p:nvPr/>
        </p:nvSpPr>
        <p:spPr>
          <a:xfrm>
            <a:off x="548640" y="1371600"/>
            <a:ext cx="5120640" cy="274320"/>
          </a:xfrm>
          <a:prstGeom prst="rect">
            <a:avLst/>
          </a:prstGeom>
          <a:noFill/>
          <a:ln/>
        </p:spPr>
        <p:txBody>
          <a:bodyPr wrap="square" rtlCol="0" anchor="ctr"/>
          <a:lstStyle/>
          <a:p>
            <a:pPr marL="0" indent="0">
              <a:buNone/>
            </a:pPr>
            <a:r>
              <a:rPr lang="en-US" sz="1300" b="1" dirty="0">
                <a:solidFill>
                  <a:srgbClr val="FF7E5F"/>
                </a:solidFill>
                <a:latin typeface="Trebuchet MS" pitchFamily="34" charset="0"/>
                <a:ea typeface="Trebuchet MS" pitchFamily="34" charset="-122"/>
                <a:cs typeface="Trebuchet MS" pitchFamily="34" charset="-120"/>
              </a:rPr>
              <a:t>SQLITE HOUSING DATABASE SCHEMA</a:t>
            </a:r>
            <a:endParaRPr lang="en-US" sz="1300" dirty="0"/>
          </a:p>
        </p:txBody>
      </p:sp>
      <p:sp>
        <p:nvSpPr>
          <p:cNvPr id="6" name="Text 4"/>
          <p:cNvSpPr/>
          <p:nvPr/>
        </p:nvSpPr>
        <p:spPr>
          <a:xfrm>
            <a:off x="548640" y="1828800"/>
            <a:ext cx="5120640" cy="3931920"/>
          </a:xfrm>
          <a:prstGeom prst="rect">
            <a:avLst/>
          </a:prstGeom>
          <a:noFill/>
          <a:ln/>
        </p:spPr>
        <p:txBody>
          <a:bodyPr wrap="square" rtlCol="0" anchor="t"/>
          <a:lstStyle/>
          <a:p>
            <a:pPr marL="0" indent="0">
              <a:lnSpc>
                <a:spcPts val="1400"/>
              </a:lnSpc>
              <a:buNone/>
            </a:pPr>
            <a:r>
              <a:rPr lang="en-US" sz="1050" b="1" dirty="0">
                <a:solidFill>
                  <a:srgbClr val="FFFFFF"/>
                </a:solidFill>
                <a:latin typeface="Segoe UI" pitchFamily="34" charset="0"/>
                <a:ea typeface="Segoe UI" pitchFamily="34" charset="-122"/>
                <a:cs typeface="Segoe UI" pitchFamily="34" charset="-120"/>
              </a:rPr>
              <a:t>• Database Table: `housing_data` inside `housing.db`
</a:t>
            </a:r>
            <a:r>
              <a:rPr lang="en-US" sz="1050" b="1" dirty="0">
                <a:solidFill>
                  <a:srgbClr val="FF7E5F"/>
                </a:solidFill>
                <a:latin typeface="Segoe UI" pitchFamily="34" charset="0"/>
                <a:ea typeface="Segoe UI" pitchFamily="34" charset="-122"/>
                <a:cs typeface="Segoe UI" pitchFamily="34" charset="-120"/>
              </a:rPr>
              <a:t>• Processed Dimensions: </a:t>
            </a:r>
            <a:r>
              <a:rPr lang="en-US" sz="1050" dirty="0">
                <a:solidFill>
                  <a:srgbClr val="FFFFFE"/>
                </a:solidFill>
                <a:latin typeface="Segoe UI" pitchFamily="34" charset="0"/>
                <a:ea typeface="Segoe UI" pitchFamily="34" charset="-122"/>
                <a:cs typeface="Segoe UI" pitchFamily="34" charset="-120"/>
              </a:rPr>
              <a:t>98 selected independent features plus 1 target SalePrice column (99 columns total).
</a:t>
            </a:r>
            <a:r>
              <a:rPr lang="en-US" sz="1050" b="1" dirty="0">
                <a:solidFill>
                  <a:srgbClr val="FF7E5F"/>
                </a:solidFill>
                <a:latin typeface="Segoe UI" pitchFamily="34" charset="0"/>
                <a:ea typeface="Segoe UI" pitchFamily="34" charset="-122"/>
                <a:cs typeface="Segoe UI" pitchFamily="34" charset="-120"/>
              </a:rPr>
              <a:t>• Integrity Purpose: </a:t>
            </a:r>
            <a:r>
              <a:rPr lang="en-US" sz="1050" dirty="0">
                <a:solidFill>
                  <a:srgbClr val="FFFFFE"/>
                </a:solidFill>
                <a:latin typeface="Segoe UI" pitchFamily="34" charset="0"/>
                <a:ea typeface="Segoe UI" pitchFamily="34" charset="-122"/>
                <a:cs typeface="Segoe UI" pitchFamily="34" charset="-120"/>
              </a:rPr>
              <a:t>Relational storage prevents data corruption. Standardizes the preprocessing pipeline across multiple modeling scripts.
</a:t>
            </a:r>
            <a:r>
              <a:rPr lang="en-US" sz="1050" b="1" dirty="0">
                <a:solidFill>
                  <a:srgbClr val="FF7E5F"/>
                </a:solidFill>
                <a:latin typeface="Segoe UI" pitchFamily="34" charset="0"/>
                <a:ea typeface="Segoe UI" pitchFamily="34" charset="-122"/>
                <a:cs typeface="Segoe UI" pitchFamily="34" charset="-120"/>
              </a:rPr>
              <a:t>• Real Estate SQL API: </a:t>
            </a:r>
            <a:r>
              <a:rPr lang="en-US" sz="1050" dirty="0">
                <a:solidFill>
                  <a:srgbClr val="FFFFFE"/>
                </a:solidFill>
                <a:latin typeface="Segoe UI" pitchFamily="34" charset="0"/>
                <a:ea typeface="Segoe UI" pitchFamily="34" charset="-122"/>
                <a:cs typeface="Segoe UI" pitchFamily="34" charset="-120"/>
              </a:rPr>
              <a:t>Allows business analysts to execute rapid diagnostic audits on listing prices, averages, and eras without needing python runtime tools.</a:t>
            </a:r>
            <a:endParaRPr lang="en-US" sz="1050" dirty="0"/>
          </a:p>
        </p:txBody>
      </p:sp>
      <p:sp>
        <p:nvSpPr>
          <p:cNvPr id="7" name="Shape 5"/>
          <p:cNvSpPr/>
          <p:nvPr/>
        </p:nvSpPr>
        <p:spPr>
          <a:xfrm>
            <a:off x="5943600" y="1371600"/>
            <a:ext cx="18288" cy="4389120"/>
          </a:xfrm>
          <a:prstGeom prst="rect">
            <a:avLst/>
          </a:prstGeom>
          <a:solidFill>
            <a:srgbClr val="2E2B43"/>
          </a:solidFill>
          <a:ln/>
        </p:spPr>
      </p:sp>
      <p:sp>
        <p:nvSpPr>
          <p:cNvPr id="8" name="Text 6"/>
          <p:cNvSpPr/>
          <p:nvPr/>
        </p:nvSpPr>
        <p:spPr>
          <a:xfrm>
            <a:off x="6217920" y="1371600"/>
            <a:ext cx="5394960" cy="274320"/>
          </a:xfrm>
          <a:prstGeom prst="rect">
            <a:avLst/>
          </a:prstGeom>
          <a:noFill/>
          <a:ln/>
        </p:spPr>
        <p:txBody>
          <a:bodyPr wrap="square" rtlCol="0" anchor="ctr"/>
          <a:lstStyle/>
          <a:p>
            <a:pPr marL="0" indent="0">
              <a:buNone/>
            </a:pPr>
            <a:r>
              <a:rPr lang="en-US" sz="1300" b="1" dirty="0">
                <a:solidFill>
                  <a:srgbClr val="FF7E5F"/>
                </a:solidFill>
                <a:latin typeface="Trebuchet MS" pitchFamily="34" charset="0"/>
                <a:ea typeface="Trebuchet MS" pitchFamily="34" charset="-122"/>
                <a:cs typeface="Trebuchet MS" pitchFamily="34" charset="-120"/>
              </a:rPr>
              <a:t>THE 4 TARGETED SQL QUERIES &amp; RESULTS</a:t>
            </a:r>
            <a:endParaRPr lang="en-US" sz="1300" dirty="0"/>
          </a:p>
        </p:txBody>
      </p:sp>
      <p:sp>
        <p:nvSpPr>
          <p:cNvPr id="9" name="Shape 7"/>
          <p:cNvSpPr/>
          <p:nvPr/>
        </p:nvSpPr>
        <p:spPr>
          <a:xfrm>
            <a:off x="6217920" y="1783080"/>
            <a:ext cx="5394960" cy="9144"/>
          </a:xfrm>
          <a:prstGeom prst="rect">
            <a:avLst/>
          </a:prstGeom>
          <a:solidFill>
            <a:srgbClr val="2E2B43"/>
          </a:solidFill>
          <a:ln/>
        </p:spPr>
      </p:sp>
      <p:sp>
        <p:nvSpPr>
          <p:cNvPr id="10" name="Text 8"/>
          <p:cNvSpPr/>
          <p:nvPr/>
        </p:nvSpPr>
        <p:spPr>
          <a:xfrm>
            <a:off x="6217920" y="1874520"/>
            <a:ext cx="5394960" cy="228600"/>
          </a:xfrm>
          <a:prstGeom prst="rect">
            <a:avLst/>
          </a:prstGeom>
          <a:noFill/>
          <a:ln/>
        </p:spPr>
        <p:txBody>
          <a:bodyPr wrap="square" rtlCol="0" anchor="ctr"/>
          <a:lstStyle/>
          <a:p>
            <a:pPr marL="0" indent="0">
              <a:buNone/>
            </a:pPr>
            <a:r>
              <a:rPr lang="en-US" sz="1100" b="1" dirty="0">
                <a:solidFill>
                  <a:srgbClr val="FF7E5F"/>
                </a:solidFill>
                <a:latin typeface="Trebuchet MS" pitchFamily="34" charset="0"/>
                <a:ea typeface="Trebuchet MS" pitchFamily="34" charset="-122"/>
                <a:cs typeface="Trebuchet MS" pitchFamily="34" charset="-120"/>
              </a:rPr>
              <a:t>Q1: OverallQual Monotonic Trend</a:t>
            </a:r>
            <a:endParaRPr lang="en-US" sz="1100" dirty="0"/>
          </a:p>
        </p:txBody>
      </p:sp>
      <p:sp>
        <p:nvSpPr>
          <p:cNvPr id="11" name="Text 9"/>
          <p:cNvSpPr/>
          <p:nvPr/>
        </p:nvSpPr>
        <p:spPr>
          <a:xfrm>
            <a:off x="6217920" y="2103120"/>
            <a:ext cx="5394960" cy="640080"/>
          </a:xfrm>
          <a:prstGeom prst="rect">
            <a:avLst/>
          </a:prstGeom>
          <a:noFill/>
          <a:ln/>
        </p:spPr>
        <p:txBody>
          <a:bodyPr wrap="square" rtlCol="0" anchor="t"/>
          <a:lstStyle/>
          <a:p>
            <a:pPr marL="0" indent="0">
              <a:lnSpc>
                <a:spcPts val="1200"/>
              </a:lnSpc>
              <a:buNone/>
            </a:pPr>
            <a:r>
              <a:rPr lang="en-US" sz="950" dirty="0">
                <a:solidFill>
                  <a:srgbClr val="E2E2EC"/>
                </a:solidFill>
                <a:latin typeface="Segoe UI" pitchFamily="34" charset="0"/>
                <a:ea typeface="Segoe UI" pitchFamily="34" charset="-122"/>
                <a:cs typeface="Segoe UI" pitchFamily="34" charset="-120"/>
              </a:rPr>
              <a:t>Avg price increases strictly from $50,150 (Qual 1) to $438,588 (Qual 10). Jumps rapidly at Qual 7+.</a:t>
            </a:r>
            <a:endParaRPr lang="en-US" sz="950" dirty="0"/>
          </a:p>
        </p:txBody>
      </p:sp>
      <p:sp>
        <p:nvSpPr>
          <p:cNvPr id="12" name="Shape 10"/>
          <p:cNvSpPr/>
          <p:nvPr/>
        </p:nvSpPr>
        <p:spPr>
          <a:xfrm>
            <a:off x="6217920" y="2880360"/>
            <a:ext cx="5394960" cy="9144"/>
          </a:xfrm>
          <a:prstGeom prst="rect">
            <a:avLst/>
          </a:prstGeom>
          <a:solidFill>
            <a:srgbClr val="2E2B43"/>
          </a:solidFill>
          <a:ln/>
        </p:spPr>
      </p:sp>
      <p:sp>
        <p:nvSpPr>
          <p:cNvPr id="13" name="Text 11"/>
          <p:cNvSpPr/>
          <p:nvPr/>
        </p:nvSpPr>
        <p:spPr>
          <a:xfrm>
            <a:off x="6217920" y="2971800"/>
            <a:ext cx="5394960" cy="228600"/>
          </a:xfrm>
          <a:prstGeom prst="rect">
            <a:avLst/>
          </a:prstGeom>
          <a:noFill/>
          <a:ln/>
        </p:spPr>
        <p:txBody>
          <a:bodyPr wrap="square" rtlCol="0" anchor="ctr"/>
          <a:lstStyle/>
          <a:p>
            <a:pPr marL="0" indent="0">
              <a:buNone/>
            </a:pPr>
            <a:r>
              <a:rPr lang="en-US" sz="1100" b="1" dirty="0">
                <a:solidFill>
                  <a:srgbClr val="FF7E5F"/>
                </a:solidFill>
                <a:latin typeface="Trebuchet MS" pitchFamily="34" charset="0"/>
                <a:ea typeface="Trebuchet MS" pitchFamily="34" charset="-122"/>
                <a:cs typeface="Trebuchet MS" pitchFamily="34" charset="-120"/>
              </a:rPr>
              <a:t>Q2: GarageCars Count Anomalies</a:t>
            </a:r>
            <a:endParaRPr lang="en-US" sz="1100" dirty="0"/>
          </a:p>
        </p:txBody>
      </p:sp>
      <p:sp>
        <p:nvSpPr>
          <p:cNvPr id="14" name="Text 12"/>
          <p:cNvSpPr/>
          <p:nvPr/>
        </p:nvSpPr>
        <p:spPr>
          <a:xfrm>
            <a:off x="6217920" y="3200400"/>
            <a:ext cx="5394960" cy="640080"/>
          </a:xfrm>
          <a:prstGeom prst="rect">
            <a:avLst/>
          </a:prstGeom>
          <a:noFill/>
          <a:ln/>
        </p:spPr>
        <p:txBody>
          <a:bodyPr wrap="square" rtlCol="0" anchor="t"/>
          <a:lstStyle/>
          <a:p>
            <a:pPr marL="0" indent="0">
              <a:lnSpc>
                <a:spcPts val="1200"/>
              </a:lnSpc>
              <a:buNone/>
            </a:pPr>
            <a:r>
              <a:rPr lang="en-US" sz="950" dirty="0">
                <a:solidFill>
                  <a:srgbClr val="E2E2EC"/>
                </a:solidFill>
                <a:latin typeface="Segoe UI" pitchFamily="34" charset="0"/>
                <a:ea typeface="Segoe UI" pitchFamily="34" charset="-122"/>
                <a:cs typeface="Segoe UI" pitchFamily="34" charset="-120"/>
              </a:rPr>
              <a:t>3-car garages average $309,636. 4-car garages drop to $192,656, but represent a tiny sample distortion (5 homes).</a:t>
            </a:r>
            <a:endParaRPr lang="en-US" sz="950" dirty="0"/>
          </a:p>
        </p:txBody>
      </p:sp>
      <p:sp>
        <p:nvSpPr>
          <p:cNvPr id="15" name="Shape 13"/>
          <p:cNvSpPr/>
          <p:nvPr/>
        </p:nvSpPr>
        <p:spPr>
          <a:xfrm>
            <a:off x="6217920" y="3977640"/>
            <a:ext cx="5394960" cy="9144"/>
          </a:xfrm>
          <a:prstGeom prst="rect">
            <a:avLst/>
          </a:prstGeom>
          <a:solidFill>
            <a:srgbClr val="2E2B43"/>
          </a:solidFill>
          <a:ln/>
        </p:spPr>
      </p:sp>
      <p:sp>
        <p:nvSpPr>
          <p:cNvPr id="16" name="Text 14"/>
          <p:cNvSpPr/>
          <p:nvPr/>
        </p:nvSpPr>
        <p:spPr>
          <a:xfrm>
            <a:off x="6217920" y="4069080"/>
            <a:ext cx="5394960" cy="228600"/>
          </a:xfrm>
          <a:prstGeom prst="rect">
            <a:avLst/>
          </a:prstGeom>
          <a:noFill/>
          <a:ln/>
        </p:spPr>
        <p:txBody>
          <a:bodyPr wrap="square" rtlCol="0" anchor="ctr"/>
          <a:lstStyle/>
          <a:p>
            <a:pPr marL="0" indent="0">
              <a:buNone/>
            </a:pPr>
            <a:r>
              <a:rPr lang="en-US" sz="1100" b="1" dirty="0">
                <a:solidFill>
                  <a:srgbClr val="FF7E5F"/>
                </a:solidFill>
                <a:latin typeface="Trebuchet MS" pitchFamily="34" charset="0"/>
                <a:ea typeface="Trebuchet MS" pitchFamily="34" charset="-122"/>
                <a:cs typeface="Trebuchet MS" pitchFamily="34" charset="-120"/>
              </a:rPr>
              <a:t>Q3: Affordable Large Homes</a:t>
            </a:r>
            <a:endParaRPr lang="en-US" sz="1100" dirty="0"/>
          </a:p>
        </p:txBody>
      </p:sp>
      <p:sp>
        <p:nvSpPr>
          <p:cNvPr id="17" name="Text 15"/>
          <p:cNvSpPr/>
          <p:nvPr/>
        </p:nvSpPr>
        <p:spPr>
          <a:xfrm>
            <a:off x="6217920" y="4297680"/>
            <a:ext cx="5394960" cy="640080"/>
          </a:xfrm>
          <a:prstGeom prst="rect">
            <a:avLst/>
          </a:prstGeom>
          <a:noFill/>
          <a:ln/>
        </p:spPr>
        <p:txBody>
          <a:bodyPr wrap="square" rtlCol="0" anchor="t"/>
          <a:lstStyle/>
          <a:p>
            <a:pPr marL="0" indent="0">
              <a:lnSpc>
                <a:spcPts val="1200"/>
              </a:lnSpc>
              <a:buNone/>
            </a:pPr>
            <a:r>
              <a:rPr lang="en-US" sz="950" dirty="0">
                <a:solidFill>
                  <a:srgbClr val="E2E2EC"/>
                </a:solidFill>
                <a:latin typeface="Segoe UI" pitchFamily="34" charset="0"/>
                <a:ea typeface="Segoe UI" pitchFamily="34" charset="-122"/>
                <a:cs typeface="Segoe UI" pitchFamily="34" charset="-120"/>
              </a:rPr>
              <a:t>Identified 267 properties (18.3% of data) offering above-average size (TotalSF &gt; 2,568 sq ft) under $200,000.</a:t>
            </a:r>
            <a:endParaRPr lang="en-US" sz="950" dirty="0"/>
          </a:p>
        </p:txBody>
      </p:sp>
      <p:sp>
        <p:nvSpPr>
          <p:cNvPr id="18" name="Shape 16"/>
          <p:cNvSpPr/>
          <p:nvPr/>
        </p:nvSpPr>
        <p:spPr>
          <a:xfrm>
            <a:off x="6217920" y="5074920"/>
            <a:ext cx="5394960" cy="9144"/>
          </a:xfrm>
          <a:prstGeom prst="rect">
            <a:avLst/>
          </a:prstGeom>
          <a:solidFill>
            <a:srgbClr val="2E2B43"/>
          </a:solidFill>
          <a:ln/>
        </p:spPr>
      </p:sp>
      <p:sp>
        <p:nvSpPr>
          <p:cNvPr id="19" name="Text 17"/>
          <p:cNvSpPr/>
          <p:nvPr/>
        </p:nvSpPr>
        <p:spPr>
          <a:xfrm>
            <a:off x="6217920" y="5166360"/>
            <a:ext cx="5394960" cy="228600"/>
          </a:xfrm>
          <a:prstGeom prst="rect">
            <a:avLst/>
          </a:prstGeom>
          <a:noFill/>
          <a:ln/>
        </p:spPr>
        <p:txBody>
          <a:bodyPr wrap="square" rtlCol="0" anchor="ctr"/>
          <a:lstStyle/>
          <a:p>
            <a:pPr marL="0" indent="0">
              <a:buNone/>
            </a:pPr>
            <a:r>
              <a:rPr lang="en-US" sz="1100" b="1" dirty="0">
                <a:solidFill>
                  <a:srgbClr val="FF7E5F"/>
                </a:solidFill>
                <a:latin typeface="Trebuchet MS" pitchFamily="34" charset="0"/>
                <a:ea typeface="Trebuchet MS" pitchFamily="34" charset="-122"/>
                <a:cs typeface="Trebuchet MS" pitchFamily="34" charset="-120"/>
              </a:rPr>
              <a:t>Q4: Construction Era Premiums</a:t>
            </a:r>
            <a:endParaRPr lang="en-US" sz="1100" dirty="0"/>
          </a:p>
        </p:txBody>
      </p:sp>
      <p:sp>
        <p:nvSpPr>
          <p:cNvPr id="20" name="Text 18"/>
          <p:cNvSpPr/>
          <p:nvPr/>
        </p:nvSpPr>
        <p:spPr>
          <a:xfrm>
            <a:off x="6217920" y="5394960"/>
            <a:ext cx="5394960" cy="640080"/>
          </a:xfrm>
          <a:prstGeom prst="rect">
            <a:avLst/>
          </a:prstGeom>
          <a:noFill/>
          <a:ln/>
        </p:spPr>
        <p:txBody>
          <a:bodyPr wrap="square" rtlCol="0" anchor="t"/>
          <a:lstStyle/>
          <a:p>
            <a:pPr marL="0" indent="0">
              <a:lnSpc>
                <a:spcPts val="1200"/>
              </a:lnSpc>
              <a:buNone/>
            </a:pPr>
            <a:r>
              <a:rPr lang="en-US" sz="950" dirty="0">
                <a:solidFill>
                  <a:srgbClr val="E2E2EC"/>
                </a:solidFill>
                <a:latin typeface="Segoe UI" pitchFamily="34" charset="0"/>
                <a:ea typeface="Segoe UI" pitchFamily="34" charset="-122"/>
                <a:cs typeface="Segoe UI" pitchFamily="34" charset="-120"/>
              </a:rPr>
              <a:t>Post-2000 homes average $242,439; 1970–1999 average $188,244; pre-1970 homes average $140,185.</a:t>
            </a:r>
            <a:endParaRPr lang="en-US" sz="950" dirty="0"/>
          </a:p>
        </p:txBody>
      </p:sp>
      <p:sp>
        <p:nvSpPr>
          <p:cNvPr id="21"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Algorithm Selection &amp; Metric Rationale</a:t>
            </a:r>
            <a:endParaRPr lang="en-US" sz="2400" dirty="0"/>
          </a:p>
        </p:txBody>
      </p:sp>
      <p:sp>
        <p:nvSpPr>
          <p:cNvPr id="4" name="Shape 2"/>
          <p:cNvSpPr/>
          <p:nvPr/>
        </p:nvSpPr>
        <p:spPr>
          <a:xfrm>
            <a:off x="548640" y="1051560"/>
            <a:ext cx="11064240" cy="18288"/>
          </a:xfrm>
          <a:prstGeom prst="rect">
            <a:avLst/>
          </a:prstGeom>
          <a:solidFill>
            <a:srgbClr val="FF7E5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402336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02920">
                <a:tc>
                  <a:txBody>
                    <a:bodyPr/>
                    <a:lstStyle/>
                    <a:p>
                      <a:pPr marL="0" indent="0">
                        <a:buNone/>
                      </a:pPr>
                      <a:r>
                        <a:rPr lang="en-US" sz="950" b="1" dirty="0">
                          <a:solidFill>
                            <a:srgbClr val="FF7E5F"/>
                          </a:solidFill>
                          <a:latin typeface="Trebuchet MS" pitchFamily="34" charset="0"/>
                          <a:ea typeface="Trebuchet MS" pitchFamily="34" charset="-122"/>
                          <a:cs typeface="Trebuchet MS" pitchFamily="34" charset="-120"/>
                        </a:rPr>
                        <a:t>Algorithm</a:t>
                      </a:r>
                      <a:endParaRPr lang="en-US" sz="9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950" b="1" dirty="0">
                          <a:solidFill>
                            <a:srgbClr val="FF7E5F"/>
                          </a:solidFill>
                          <a:latin typeface="Trebuchet MS" pitchFamily="34" charset="0"/>
                          <a:ea typeface="Trebuchet MS" pitchFamily="34" charset="-122"/>
                          <a:cs typeface="Trebuchet MS" pitchFamily="34" charset="-120"/>
                        </a:rPr>
                        <a:t>Decision</a:t>
                      </a:r>
                      <a:endParaRPr lang="en-US" sz="9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950" b="1" dirty="0">
                          <a:solidFill>
                            <a:srgbClr val="FF7E5F"/>
                          </a:solidFill>
                          <a:latin typeface="Trebuchet MS" pitchFamily="34" charset="0"/>
                          <a:ea typeface="Trebuchet MS" pitchFamily="34" charset="-122"/>
                          <a:cs typeface="Trebuchet MS" pitchFamily="34" charset="-120"/>
                        </a:rPr>
                        <a:t>Mechanism &amp; Suitability</a:t>
                      </a:r>
                      <a:endParaRPr lang="en-US" sz="9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0"/>
                  </a:ext>
                </a:extLst>
              </a:tr>
              <a:tr h="502920">
                <a:tc>
                  <a:txBody>
                    <a:bodyPr/>
                    <a:lstStyle/>
                    <a:p>
                      <a:pPr marL="0" indent="0">
                        <a:buNone/>
                      </a:pPr>
                      <a:r>
                        <a:rPr lang="en-US" sz="850" dirty="0">
                          <a:solidFill>
                            <a:srgbClr val="FFFFFE"/>
                          </a:solidFill>
                          <a:latin typeface="Segoe UI" pitchFamily="34" charset="0"/>
                          <a:ea typeface="Segoe UI" pitchFamily="34" charset="-122"/>
                          <a:cs typeface="Segoe UI" pitchFamily="34" charset="-120"/>
                        </a:rPr>
                        <a:t>OLS Linear Regression</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dirty="0">
                          <a:solidFill>
                            <a:srgbClr val="FFFFFE"/>
                          </a:solidFill>
                          <a:latin typeface="Segoe UI" pitchFamily="34" charset="0"/>
                          <a:ea typeface="Segoe UI" pitchFamily="34" charset="-122"/>
                          <a:cs typeface="Segoe UI" pitchFamily="34" charset="-120"/>
                        </a:rPr>
                        <a:t>Baseline</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dirty="0">
                          <a:solidFill>
                            <a:srgbClr val="FFFFFE"/>
                          </a:solidFill>
                          <a:latin typeface="Segoe UI" pitchFamily="34" charset="0"/>
                          <a:ea typeface="Segoe UI" pitchFamily="34" charset="-122"/>
                          <a:cs typeface="Segoe UI" pitchFamily="34" charset="-120"/>
                        </a:rPr>
                        <a:t>Starting reference point. Highly interpretable but fragile to multicollinearity.</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1"/>
                  </a:ext>
                </a:extLst>
              </a:tr>
              <a:tr h="502920">
                <a:tc>
                  <a:txBody>
                    <a:bodyPr/>
                    <a:lstStyle/>
                    <a:p>
                      <a:pPr marL="0" indent="0">
                        <a:buNone/>
                      </a:pPr>
                      <a:r>
                        <a:rPr lang="en-US" sz="850" b="1" dirty="0">
                          <a:solidFill>
                            <a:srgbClr val="34D399"/>
                          </a:solidFill>
                          <a:latin typeface="Segoe UI" pitchFamily="34" charset="0"/>
                          <a:ea typeface="Segoe UI" pitchFamily="34" charset="-122"/>
                          <a:cs typeface="Segoe UI" pitchFamily="34" charset="-120"/>
                        </a:rPr>
                        <a:t>Ridge Regression</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b="1" dirty="0">
                          <a:solidFill>
                            <a:srgbClr val="34D399"/>
                          </a:solidFill>
                          <a:latin typeface="Segoe UI" pitchFamily="34" charset="0"/>
                          <a:ea typeface="Segoe UI" pitchFamily="34" charset="-122"/>
                          <a:cs typeface="Segoe UI" pitchFamily="34" charset="-120"/>
                        </a:rPr>
                        <a:t>SELECTED</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dirty="0">
                          <a:solidFill>
                            <a:srgbClr val="FFFFFE"/>
                          </a:solidFill>
                          <a:latin typeface="Segoe UI" pitchFamily="34" charset="0"/>
                          <a:ea typeface="Segoe UI" pitchFamily="34" charset="-122"/>
                          <a:cs typeface="Segoe UI" pitchFamily="34" charset="-120"/>
                        </a:rPr>
                        <a:t>Adds L2 penalty (α·Σβ²). Prevents instability and handles sparse one-hot sets.</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2"/>
                  </a:ext>
                </a:extLst>
              </a:tr>
              <a:tr h="502920">
                <a:tc>
                  <a:txBody>
                    <a:bodyPr/>
                    <a:lstStyle/>
                    <a:p>
                      <a:pPr marL="0" indent="0">
                        <a:buNone/>
                      </a:pPr>
                      <a:r>
                        <a:rPr lang="en-US" sz="850" b="1" dirty="0">
                          <a:solidFill>
                            <a:srgbClr val="34D399"/>
                          </a:solidFill>
                          <a:latin typeface="Segoe UI" pitchFamily="34" charset="0"/>
                          <a:ea typeface="Segoe UI" pitchFamily="34" charset="-122"/>
                          <a:cs typeface="Segoe UI" pitchFamily="34" charset="-120"/>
                        </a:rPr>
                        <a:t>XGBoost</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b="1" dirty="0">
                          <a:solidFill>
                            <a:srgbClr val="34D399"/>
                          </a:solidFill>
                          <a:latin typeface="Segoe UI" pitchFamily="34" charset="0"/>
                          <a:ea typeface="Segoe UI" pitchFamily="34" charset="-122"/>
                          <a:cs typeface="Segoe UI" pitchFamily="34" charset="-120"/>
                        </a:rPr>
                        <a:t>SELECTED</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dirty="0">
                          <a:solidFill>
                            <a:srgbClr val="FFFFFE"/>
                          </a:solidFill>
                          <a:latin typeface="Segoe UI" pitchFamily="34" charset="0"/>
                          <a:ea typeface="Segoe UI" pitchFamily="34" charset="-122"/>
                          <a:cs typeface="Segoe UI" pitchFamily="34" charset="-120"/>
                        </a:rPr>
                        <a:t>Gradient boosting tree candidate. Explores non-linear interactions.</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3"/>
                  </a:ext>
                </a:extLst>
              </a:tr>
              <a:tr h="502920">
                <a:tc>
                  <a:txBody>
                    <a:bodyPr/>
                    <a:lstStyle/>
                    <a:p>
                      <a:pPr marL="0" indent="0">
                        <a:buNone/>
                      </a:pPr>
                      <a:r>
                        <a:rPr lang="en-US" sz="850" dirty="0">
                          <a:solidFill>
                            <a:srgbClr val="FFFFFE"/>
                          </a:solidFill>
                          <a:latin typeface="Segoe UI" pitchFamily="34" charset="0"/>
                          <a:ea typeface="Segoe UI" pitchFamily="34" charset="-122"/>
                          <a:cs typeface="Segoe UI" pitchFamily="34" charset="-120"/>
                        </a:rPr>
                        <a:t>Random Forest</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dirty="0">
                          <a:solidFill>
                            <a:srgbClr val="FFFFFE"/>
                          </a:solidFill>
                          <a:latin typeface="Segoe UI" pitchFamily="34" charset="0"/>
                          <a:ea typeface="Segoe UI" pitchFamily="34" charset="-122"/>
                          <a:cs typeface="Segoe UI" pitchFamily="34" charset="-120"/>
                        </a:rPr>
                        <a:t>Benchmark</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dirty="0">
                          <a:solidFill>
                            <a:srgbClr val="FFFFFE"/>
                          </a:solidFill>
                          <a:latin typeface="Segoe UI" pitchFamily="34" charset="0"/>
                          <a:ea typeface="Segoe UI" pitchFamily="34" charset="-122"/>
                          <a:cs typeface="Segoe UI" pitchFamily="34" charset="-120"/>
                        </a:rPr>
                        <a:t>Standard bagging ensemble. Implemented as an additional comparison baseline.</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4"/>
                  </a:ext>
                </a:extLst>
              </a:tr>
              <a:tr h="502920">
                <a:tc>
                  <a:txBody>
                    <a:bodyPr/>
                    <a:lstStyle/>
                    <a:p>
                      <a:pPr marL="0" indent="0">
                        <a:buNone/>
                      </a:pPr>
                      <a:r>
                        <a:rPr lang="en-US" sz="850" dirty="0">
                          <a:solidFill>
                            <a:srgbClr val="FF7E5F"/>
                          </a:solidFill>
                          <a:latin typeface="Segoe UI" pitchFamily="34" charset="0"/>
                          <a:ea typeface="Segoe UI" pitchFamily="34" charset="-122"/>
                          <a:cs typeface="Segoe UI" pitchFamily="34" charset="-120"/>
                        </a:rPr>
                        <a:t>Support Vector (SVR)</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dirty="0">
                          <a:solidFill>
                            <a:srgbClr val="FF7E5F"/>
                          </a:solidFill>
                          <a:latin typeface="Segoe UI" pitchFamily="34" charset="0"/>
                          <a:ea typeface="Segoe UI" pitchFamily="34" charset="-122"/>
                          <a:cs typeface="Segoe UI" pitchFamily="34" charset="-120"/>
                        </a:rPr>
                        <a:t>REJECTED</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dirty="0">
                          <a:solidFill>
                            <a:srgbClr val="FFFFFE"/>
                          </a:solidFill>
                          <a:latin typeface="Segoe UI" pitchFamily="34" charset="0"/>
                          <a:ea typeface="Segoe UI" pitchFamily="34" charset="-122"/>
                          <a:cs typeface="Segoe UI" pitchFamily="34" charset="-120"/>
                        </a:rPr>
                        <a:t>Computationally heavy for 200+ dimensions; offers no benefits here.</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5"/>
                  </a:ext>
                </a:extLst>
              </a:tr>
              <a:tr h="502920">
                <a:tc>
                  <a:txBody>
                    <a:bodyPr/>
                    <a:lstStyle/>
                    <a:p>
                      <a:pPr marL="0" indent="0">
                        <a:buNone/>
                      </a:pPr>
                      <a:r>
                        <a:rPr lang="en-US" sz="850" dirty="0">
                          <a:solidFill>
                            <a:srgbClr val="FF7E5F"/>
                          </a:solidFill>
                          <a:latin typeface="Segoe UI" pitchFamily="34" charset="0"/>
                          <a:ea typeface="Segoe UI" pitchFamily="34" charset="-122"/>
                          <a:cs typeface="Segoe UI" pitchFamily="34" charset="-120"/>
                        </a:rPr>
                        <a:t>Decision Tree</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dirty="0">
                          <a:solidFill>
                            <a:srgbClr val="FF7E5F"/>
                          </a:solidFill>
                          <a:latin typeface="Segoe UI" pitchFamily="34" charset="0"/>
                          <a:ea typeface="Segoe UI" pitchFamily="34" charset="-122"/>
                          <a:cs typeface="Segoe UI" pitchFamily="34" charset="-120"/>
                        </a:rPr>
                        <a:t>REJECTED</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dirty="0">
                          <a:solidFill>
                            <a:srgbClr val="FFFFFE"/>
                          </a:solidFill>
                          <a:latin typeface="Segoe UI" pitchFamily="34" charset="0"/>
                          <a:ea typeface="Segoe UI" pitchFamily="34" charset="-122"/>
                          <a:cs typeface="Segoe UI" pitchFamily="34" charset="-120"/>
                        </a:rPr>
                        <a:t>Prone to severe overfitting; redundant when RF and XGBoost are available.</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6"/>
                  </a:ext>
                </a:extLst>
              </a:tr>
              <a:tr h="502920">
                <a:tc>
                  <a:txBody>
                    <a:bodyPr/>
                    <a:lstStyle/>
                    <a:p>
                      <a:pPr marL="0" indent="0">
                        <a:buNone/>
                      </a:pPr>
                      <a:r>
                        <a:rPr lang="en-US" sz="850" dirty="0">
                          <a:solidFill>
                            <a:srgbClr val="FF7E5F"/>
                          </a:solidFill>
                          <a:latin typeface="Segoe UI" pitchFamily="34" charset="0"/>
                          <a:ea typeface="Segoe UI" pitchFamily="34" charset="-122"/>
                          <a:cs typeface="Segoe UI" pitchFamily="34" charset="-120"/>
                        </a:rPr>
                        <a:t>K-Nearest (KNN)</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dirty="0">
                          <a:solidFill>
                            <a:srgbClr val="FF7E5F"/>
                          </a:solidFill>
                          <a:latin typeface="Segoe UI" pitchFamily="34" charset="0"/>
                          <a:ea typeface="Segoe UI" pitchFamily="34" charset="-122"/>
                          <a:cs typeface="Segoe UI" pitchFamily="34" charset="-120"/>
                        </a:rPr>
                        <a:t>REJECTED</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buNone/>
                      </a:pPr>
                      <a:r>
                        <a:rPr lang="en-US" sz="850" dirty="0">
                          <a:solidFill>
                            <a:srgbClr val="FFFFFE"/>
                          </a:solidFill>
                          <a:latin typeface="Segoe UI" pitchFamily="34" charset="0"/>
                          <a:ea typeface="Segoe UI" pitchFamily="34" charset="-122"/>
                          <a:cs typeface="Segoe UI" pitchFamily="34" charset="-120"/>
                        </a:rPr>
                        <a:t>Curse of dimensionality makes Euclidean distance meaningless on sparse inputs.</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7"/>
                  </a:ext>
                </a:extLst>
              </a:tr>
            </a:tbl>
          </a:graphicData>
        </a:graphic>
      </p:graphicFrame>
      <p:sp>
        <p:nvSpPr>
          <p:cNvPr id="6" name="Shape 3"/>
          <p:cNvSpPr/>
          <p:nvPr/>
        </p:nvSpPr>
        <p:spPr>
          <a:xfrm>
            <a:off x="548640" y="1371600"/>
            <a:ext cx="5486400" cy="18288"/>
          </a:xfrm>
          <a:prstGeom prst="rect">
            <a:avLst/>
          </a:prstGeom>
          <a:solidFill>
            <a:srgbClr val="FF7E5F"/>
          </a:solidFill>
          <a:ln/>
        </p:spPr>
      </p:sp>
      <p:sp>
        <p:nvSpPr>
          <p:cNvPr id="7" name="Shape 4"/>
          <p:cNvSpPr/>
          <p:nvPr/>
        </p:nvSpPr>
        <p:spPr>
          <a:xfrm>
            <a:off x="548640" y="1737360"/>
            <a:ext cx="5486400" cy="9144"/>
          </a:xfrm>
          <a:prstGeom prst="rect">
            <a:avLst/>
          </a:prstGeom>
          <a:solidFill>
            <a:srgbClr val="2E2B43"/>
          </a:solidFill>
          <a:ln/>
        </p:spPr>
      </p:sp>
      <p:sp>
        <p:nvSpPr>
          <p:cNvPr id="8" name="Shape 5"/>
          <p:cNvSpPr/>
          <p:nvPr/>
        </p:nvSpPr>
        <p:spPr>
          <a:xfrm>
            <a:off x="548640" y="5394960"/>
            <a:ext cx="5486400" cy="18288"/>
          </a:xfrm>
          <a:prstGeom prst="rect">
            <a:avLst/>
          </a:prstGeom>
          <a:solidFill>
            <a:srgbClr val="FF7E5F"/>
          </a:solidFill>
          <a:ln/>
        </p:spPr>
      </p:sp>
      <p:sp>
        <p:nvSpPr>
          <p:cNvPr id="9" name="Shape 6"/>
          <p:cNvSpPr/>
          <p:nvPr/>
        </p:nvSpPr>
        <p:spPr>
          <a:xfrm>
            <a:off x="6217920" y="1371600"/>
            <a:ext cx="18288" cy="4023360"/>
          </a:xfrm>
          <a:prstGeom prst="rect">
            <a:avLst/>
          </a:prstGeom>
          <a:solidFill>
            <a:srgbClr val="2E2B43"/>
          </a:solidFill>
          <a:ln/>
        </p:spPr>
      </p:sp>
      <p:sp>
        <p:nvSpPr>
          <p:cNvPr id="10" name="Text 7"/>
          <p:cNvSpPr/>
          <p:nvPr/>
        </p:nvSpPr>
        <p:spPr>
          <a:xfrm>
            <a:off x="6492240" y="1371600"/>
            <a:ext cx="5120640" cy="274320"/>
          </a:xfrm>
          <a:prstGeom prst="rect">
            <a:avLst/>
          </a:prstGeom>
          <a:noFill/>
          <a:ln/>
        </p:spPr>
        <p:txBody>
          <a:bodyPr wrap="square" rtlCol="0" anchor="ctr"/>
          <a:lstStyle/>
          <a:p>
            <a:pPr marL="0" indent="0">
              <a:buNone/>
            </a:pPr>
            <a:r>
              <a:rPr lang="en-US" sz="1300" b="1" dirty="0">
                <a:solidFill>
                  <a:srgbClr val="FF7E5F"/>
                </a:solidFill>
                <a:latin typeface="Trebuchet MS" pitchFamily="34" charset="0"/>
                <a:ea typeface="Trebuchet MS" pitchFamily="34" charset="-122"/>
                <a:cs typeface="Trebuchet MS" pitchFamily="34" charset="-120"/>
              </a:rPr>
              <a:t>EVALUATION METRIC RATIONALE</a:t>
            </a:r>
            <a:endParaRPr lang="en-US" sz="1300" dirty="0"/>
          </a:p>
        </p:txBody>
      </p:sp>
      <p:sp>
        <p:nvSpPr>
          <p:cNvPr id="5" name="Text 8"/>
          <p:cNvSpPr/>
          <p:nvPr/>
        </p:nvSpPr>
        <p:spPr>
          <a:xfrm>
            <a:off x="6492240" y="1828800"/>
            <a:ext cx="5120640" cy="3474720"/>
          </a:xfrm>
          <a:prstGeom prst="rect">
            <a:avLst/>
          </a:prstGeom>
          <a:noFill/>
          <a:ln/>
        </p:spPr>
        <p:txBody>
          <a:bodyPr wrap="square" rtlCol="0" anchor="t"/>
          <a:lstStyle/>
          <a:p>
            <a:pPr marL="0" indent="0">
              <a:lnSpc>
                <a:spcPts val="1300"/>
              </a:lnSpc>
              <a:buNone/>
            </a:pPr>
            <a:r>
              <a:rPr lang="en-US" sz="1050" b="1" dirty="0">
                <a:solidFill>
                  <a:srgbClr val="FFFFFF"/>
                </a:solidFill>
                <a:latin typeface="Segoe UI" pitchFamily="34" charset="0"/>
                <a:ea typeface="Segoe UI" pitchFamily="34" charset="-122"/>
                <a:cs typeface="Segoe UI" pitchFamily="34" charset="-120"/>
              </a:rPr>
              <a:t>• Root Mean Squared Error (RMSE) — Primary:
</a:t>
            </a:r>
            <a:r>
              <a:rPr lang="en-US" sz="1050" dirty="0">
                <a:solidFill>
                  <a:srgbClr val="E2E2EC"/>
                </a:solidFill>
                <a:latin typeface="Segoe UI" pitchFamily="34" charset="0"/>
                <a:ea typeface="Segoe UI" pitchFamily="34" charset="-122"/>
                <a:cs typeface="Segoe UI" pitchFamily="34" charset="-120"/>
              </a:rPr>
              <a:t>Penalizes large errors quadratically. In housing, a single $50k error is far worse than ten $5k errors. RMSE ensures our model avoids massive outliers.
</a:t>
            </a:r>
            <a:r>
              <a:rPr lang="en-US" sz="1050" b="1" dirty="0">
                <a:solidFill>
                  <a:srgbClr val="FFFFFF"/>
                </a:solidFill>
                <a:latin typeface="Segoe UI" pitchFamily="34" charset="0"/>
                <a:ea typeface="Segoe UI" pitchFamily="34" charset="-122"/>
                <a:cs typeface="Segoe UI" pitchFamily="34" charset="-120"/>
              </a:rPr>
              <a:t>• Mean Absolute Error (MAE):
</a:t>
            </a:r>
            <a:r>
              <a:rPr lang="en-US" sz="1050" dirty="0">
                <a:solidFill>
                  <a:srgbClr val="E2E2EC"/>
                </a:solidFill>
                <a:latin typeface="Segoe UI" pitchFamily="34" charset="0"/>
                <a:ea typeface="Segoe UI" pitchFamily="34" charset="-122"/>
                <a:cs typeface="Segoe UI" pitchFamily="34" charset="-120"/>
              </a:rPr>
              <a:t>Calculates average absolute error in original dollars. Highly intuitive for agents and buyers.
</a:t>
            </a:r>
            <a:r>
              <a:rPr lang="en-US" sz="1050" b="1" dirty="0">
                <a:solidFill>
                  <a:srgbClr val="FFFFFF"/>
                </a:solidFill>
                <a:latin typeface="Segoe UI" pitchFamily="34" charset="0"/>
                <a:ea typeface="Segoe UI" pitchFamily="34" charset="-122"/>
                <a:cs typeface="Segoe UI" pitchFamily="34" charset="-120"/>
              </a:rPr>
              <a:t>• Mean Absolute Percentage Error (MAPE):
</a:t>
            </a:r>
            <a:r>
              <a:rPr lang="en-US" sz="1050" dirty="0">
                <a:solidFill>
                  <a:srgbClr val="E2E2EC"/>
                </a:solidFill>
                <a:latin typeface="Segoe UI" pitchFamily="34" charset="0"/>
                <a:ea typeface="Segoe UI" pitchFamily="34" charset="-122"/>
                <a:cs typeface="Segoe UI" pitchFamily="34" charset="-120"/>
              </a:rPr>
              <a:t>Computes error percentages. A $15k error on a $100k home (15%) is serious, whereas on a $500k home (3%) it is minor.</a:t>
            </a:r>
            <a:endParaRPr lang="en-US" sz="1050" dirty="0"/>
          </a:p>
        </p:txBody>
      </p:sp>
      <p:sp>
        <p:nvSpPr>
          <p:cNvPr id="12" name="Text 9"/>
          <p:cNvSpPr/>
          <p:nvPr/>
        </p:nvSpPr>
        <p:spPr>
          <a:xfrm>
            <a:off x="548640" y="5486400"/>
            <a:ext cx="11064240" cy="365760"/>
          </a:xfrm>
          <a:prstGeom prst="rect">
            <a:avLst/>
          </a:prstGeom>
          <a:noFill/>
          <a:ln/>
        </p:spPr>
        <p:txBody>
          <a:bodyPr wrap="square" rtlCol="0" anchor="ctr"/>
          <a:lstStyle/>
          <a:p>
            <a:pPr marL="0" indent="0" algn="ctr">
              <a:buNone/>
            </a:pPr>
            <a:r>
              <a:rPr lang="en-US" sz="1000" b="1" dirty="0">
                <a:solidFill>
                  <a:srgbClr val="A7A9BE"/>
                </a:solidFill>
                <a:latin typeface="Segoe UI" pitchFamily="34" charset="0"/>
                <a:ea typeface="Segoe UI" pitchFamily="34" charset="-122"/>
                <a:cs typeface="Segoe UI" pitchFamily="34" charset="-120"/>
              </a:rPr>
              <a:t>Why not F1/Accuracy? This is a continuous regression problem. Grouping prices into bins would strip vital listing sensitivity.</a:t>
            </a:r>
            <a:endParaRPr lang="en-US" sz="1000" dirty="0"/>
          </a:p>
        </p:txBody>
      </p:sp>
      <p:sp>
        <p:nvSpPr>
          <p:cNvPr id="13"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Model Training &amp; Hyperparameter Tuning</a:t>
            </a:r>
            <a:endParaRPr lang="en-US" sz="2400" dirty="0"/>
          </a:p>
        </p:txBody>
      </p:sp>
      <p:sp>
        <p:nvSpPr>
          <p:cNvPr id="4" name="Shape 2"/>
          <p:cNvSpPr/>
          <p:nvPr/>
        </p:nvSpPr>
        <p:spPr>
          <a:xfrm>
            <a:off x="548640" y="1051560"/>
            <a:ext cx="11064240" cy="18288"/>
          </a:xfrm>
          <a:prstGeom prst="rect">
            <a:avLst/>
          </a:prstGeom>
          <a:solidFill>
            <a:srgbClr val="FF7E5F"/>
          </a:solidFill>
          <a:ln/>
        </p:spPr>
      </p:sp>
      <p:sp>
        <p:nvSpPr>
          <p:cNvPr id="5" name="Text 3"/>
          <p:cNvSpPr/>
          <p:nvPr/>
        </p:nvSpPr>
        <p:spPr>
          <a:xfrm>
            <a:off x="548640" y="1371600"/>
            <a:ext cx="5120640" cy="274320"/>
          </a:xfrm>
          <a:prstGeom prst="rect">
            <a:avLst/>
          </a:prstGeom>
          <a:noFill/>
          <a:ln/>
        </p:spPr>
        <p:txBody>
          <a:bodyPr wrap="square" rtlCol="0" anchor="ctr"/>
          <a:lstStyle/>
          <a:p>
            <a:pPr marL="0" indent="0">
              <a:buNone/>
            </a:pPr>
            <a:r>
              <a:rPr lang="en-US" sz="1200" b="1" dirty="0">
                <a:solidFill>
                  <a:srgbClr val="FF7E5F"/>
                </a:solidFill>
                <a:latin typeface="Trebuchet MS" pitchFamily="34" charset="0"/>
                <a:ea typeface="Trebuchet MS" pitchFamily="34" charset="-122"/>
                <a:cs typeface="Trebuchet MS" pitchFamily="34" charset="-120"/>
              </a:rPr>
              <a:t>CROSS-VALIDATION MODEL PERFORMANCE</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2684424731"/>
              </p:ext>
            </p:extLst>
          </p:nvPr>
        </p:nvGraphicFramePr>
        <p:xfrm>
          <a:off x="548640" y="1737360"/>
          <a:ext cx="4937760" cy="1757337"/>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37709">
                <a:tc>
                  <a:txBody>
                    <a:bodyPr/>
                    <a:lstStyle/>
                    <a:p>
                      <a:pPr marL="0" indent="0" algn="ctr">
                        <a:buNone/>
                      </a:pPr>
                      <a:r>
                        <a:rPr lang="en-US" sz="1000" b="1" dirty="0">
                          <a:solidFill>
                            <a:srgbClr val="FF7E5F"/>
                          </a:solidFill>
                          <a:latin typeface="Trebuchet MS" pitchFamily="34" charset="0"/>
                          <a:ea typeface="Trebuchet MS" pitchFamily="34" charset="-122"/>
                          <a:cs typeface="Trebuchet MS" pitchFamily="34" charset="-120"/>
                        </a:rPr>
                        <a:t>Model Type</a:t>
                      </a:r>
                      <a:endParaRPr lang="en-US" sz="100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1000" b="1" dirty="0">
                          <a:solidFill>
                            <a:srgbClr val="FF7E5F"/>
                          </a:solidFill>
                          <a:latin typeface="Trebuchet MS" pitchFamily="34" charset="0"/>
                          <a:ea typeface="Trebuchet MS" pitchFamily="34" charset="-122"/>
                          <a:cs typeface="Trebuchet MS" pitchFamily="34" charset="-120"/>
                        </a:rPr>
                        <a:t>CV RMSE (log)</a:t>
                      </a:r>
                      <a:endParaRPr lang="en-US" sz="100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1000" b="1" dirty="0">
                          <a:solidFill>
                            <a:srgbClr val="FF7E5F"/>
                          </a:solidFill>
                          <a:latin typeface="Trebuchet MS" pitchFamily="34" charset="0"/>
                          <a:ea typeface="Trebuchet MS" pitchFamily="34" charset="-122"/>
                          <a:cs typeface="Trebuchet MS" pitchFamily="34" charset="-120"/>
                        </a:rPr>
                        <a:t>CV R²</a:t>
                      </a:r>
                      <a:endParaRPr lang="en-US" sz="100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0"/>
                  </a:ext>
                </a:extLst>
              </a:tr>
              <a:tr h="337709">
                <a:tc>
                  <a:txBody>
                    <a:bodyPr/>
                    <a:lstStyle/>
                    <a:p>
                      <a:pPr marL="0" indent="0" algn="ctr">
                        <a:buNone/>
                      </a:pPr>
                      <a:r>
                        <a:rPr lang="en-US" sz="950" dirty="0">
                          <a:solidFill>
                            <a:srgbClr val="FFFFFE"/>
                          </a:solidFill>
                          <a:latin typeface="Segoe UI" pitchFamily="34" charset="0"/>
                          <a:ea typeface="Segoe UI" pitchFamily="34" charset="-122"/>
                          <a:cs typeface="Segoe UI" pitchFamily="34" charset="-120"/>
                        </a:rPr>
                        <a:t>Linear Regression</a:t>
                      </a:r>
                      <a:endParaRPr lang="en-US" sz="9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950" dirty="0">
                          <a:solidFill>
                            <a:srgbClr val="FFFFFE"/>
                          </a:solidFill>
                          <a:latin typeface="Segoe UI" pitchFamily="34" charset="0"/>
                          <a:ea typeface="Segoe UI" pitchFamily="34" charset="-122"/>
                          <a:cs typeface="Segoe UI" pitchFamily="34" charset="-120"/>
                        </a:rPr>
                        <a:t>0.205</a:t>
                      </a:r>
                      <a:endParaRPr lang="en-US" sz="9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950" dirty="0">
                          <a:solidFill>
                            <a:srgbClr val="FFFFFE"/>
                          </a:solidFill>
                          <a:latin typeface="Segoe UI" pitchFamily="34" charset="0"/>
                          <a:ea typeface="Segoe UI" pitchFamily="34" charset="-122"/>
                          <a:cs typeface="Segoe UI" pitchFamily="34" charset="-120"/>
                        </a:rPr>
                        <a:t>0.775</a:t>
                      </a:r>
                      <a:endParaRPr lang="en-US" sz="9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1"/>
                  </a:ext>
                </a:extLst>
              </a:tr>
              <a:tr h="337709">
                <a:tc>
                  <a:txBody>
                    <a:bodyPr/>
                    <a:lstStyle/>
                    <a:p>
                      <a:pPr marL="0" indent="0" algn="ctr">
                        <a:buNone/>
                      </a:pPr>
                      <a:r>
                        <a:rPr lang="en-US" sz="950" dirty="0">
                          <a:solidFill>
                            <a:srgbClr val="FFFFFE"/>
                          </a:solidFill>
                          <a:latin typeface="Segoe UI" pitchFamily="34" charset="0"/>
                          <a:ea typeface="Segoe UI" pitchFamily="34" charset="-122"/>
                          <a:cs typeface="Segoe UI" pitchFamily="34" charset="-120"/>
                        </a:rPr>
                        <a:t>Random Forest</a:t>
                      </a:r>
                      <a:endParaRPr lang="en-US" sz="9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950" dirty="0">
                          <a:solidFill>
                            <a:srgbClr val="FFFFFE"/>
                          </a:solidFill>
                          <a:latin typeface="Segoe UI" pitchFamily="34" charset="0"/>
                          <a:ea typeface="Segoe UI" pitchFamily="34" charset="-122"/>
                          <a:cs typeface="Segoe UI" pitchFamily="34" charset="-120"/>
                        </a:rPr>
                        <a:t>0.147</a:t>
                      </a:r>
                      <a:endParaRPr lang="en-US" sz="9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950" dirty="0">
                          <a:solidFill>
                            <a:srgbClr val="FFFFFE"/>
                          </a:solidFill>
                          <a:latin typeface="Segoe UI" pitchFamily="34" charset="0"/>
                          <a:ea typeface="Segoe UI" pitchFamily="34" charset="-122"/>
                          <a:cs typeface="Segoe UI" pitchFamily="34" charset="-120"/>
                        </a:rPr>
                        <a:t>0.885</a:t>
                      </a:r>
                      <a:endParaRPr lang="en-US" sz="9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2"/>
                  </a:ext>
                </a:extLst>
              </a:tr>
              <a:tr h="337709">
                <a:tc>
                  <a:txBody>
                    <a:bodyPr/>
                    <a:lstStyle/>
                    <a:p>
                      <a:pPr marL="0" indent="0" algn="ctr">
                        <a:buNone/>
                      </a:pPr>
                      <a:r>
                        <a:rPr lang="en-US" sz="950" dirty="0">
                          <a:solidFill>
                            <a:srgbClr val="FFFFFE"/>
                          </a:solidFill>
                          <a:latin typeface="Segoe UI" pitchFamily="34" charset="0"/>
                          <a:ea typeface="Segoe UI" pitchFamily="34" charset="-122"/>
                          <a:cs typeface="Segoe UI" pitchFamily="34" charset="-120"/>
                        </a:rPr>
                        <a:t>XGBoost (default)</a:t>
                      </a:r>
                      <a:endParaRPr lang="en-US" sz="9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950" dirty="0">
                          <a:solidFill>
                            <a:srgbClr val="FFFFFE"/>
                          </a:solidFill>
                          <a:latin typeface="Segoe UI" pitchFamily="34" charset="0"/>
                          <a:ea typeface="Segoe UI" pitchFamily="34" charset="-122"/>
                          <a:cs typeface="Segoe UI" pitchFamily="34" charset="-120"/>
                        </a:rPr>
                        <a:t>0.144</a:t>
                      </a:r>
                      <a:endParaRPr lang="en-US" sz="9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950" dirty="0">
                          <a:solidFill>
                            <a:srgbClr val="FFFFFE"/>
                          </a:solidFill>
                          <a:latin typeface="Segoe UI" pitchFamily="34" charset="0"/>
                          <a:ea typeface="Segoe UI" pitchFamily="34" charset="-122"/>
                          <a:cs typeface="Segoe UI" pitchFamily="34" charset="-120"/>
                        </a:rPr>
                        <a:t>0.889</a:t>
                      </a:r>
                      <a:endParaRPr lang="en-US" sz="9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3"/>
                  </a:ext>
                </a:extLst>
              </a:tr>
              <a:tr h="406501">
                <a:tc>
                  <a:txBody>
                    <a:bodyPr/>
                    <a:lstStyle/>
                    <a:p>
                      <a:pPr marL="0" indent="0" algn="ctr">
                        <a:buNone/>
                      </a:pPr>
                      <a:r>
                        <a:rPr lang="en-US" sz="1000" b="1" dirty="0">
                          <a:solidFill>
                            <a:srgbClr val="34D399"/>
                          </a:solidFill>
                          <a:latin typeface="Segoe UI" pitchFamily="34" charset="0"/>
                          <a:ea typeface="Segoe UI" pitchFamily="34" charset="-122"/>
                          <a:cs typeface="Segoe UI" pitchFamily="34" charset="-120"/>
                        </a:rPr>
                        <a:t>Ridge (α=10) — WINNER</a:t>
                      </a:r>
                      <a:endParaRPr lang="en-US" sz="10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1000" b="1" dirty="0">
                          <a:solidFill>
                            <a:srgbClr val="34D399"/>
                          </a:solidFill>
                          <a:latin typeface="Segoe UI" pitchFamily="34" charset="0"/>
                          <a:ea typeface="Segoe UI" pitchFamily="34" charset="-122"/>
                          <a:cs typeface="Segoe UI" pitchFamily="34" charset="-120"/>
                        </a:rPr>
                        <a:t>0.135</a:t>
                      </a:r>
                      <a:endParaRPr lang="en-US" sz="10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1000" b="1" dirty="0">
                          <a:solidFill>
                            <a:srgbClr val="34D399"/>
                          </a:solidFill>
                          <a:latin typeface="Segoe UI" pitchFamily="34" charset="0"/>
                          <a:ea typeface="Segoe UI" pitchFamily="34" charset="-122"/>
                          <a:cs typeface="Segoe UI" pitchFamily="34" charset="-120"/>
                        </a:rPr>
                        <a:t>0.902</a:t>
                      </a:r>
                      <a:endParaRPr lang="en-US" sz="100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4"/>
                  </a:ext>
                </a:extLst>
              </a:tr>
            </a:tbl>
          </a:graphicData>
        </a:graphic>
      </p:graphicFrame>
      <p:sp>
        <p:nvSpPr>
          <p:cNvPr id="7" name="Shape 4"/>
          <p:cNvSpPr/>
          <p:nvPr/>
        </p:nvSpPr>
        <p:spPr>
          <a:xfrm>
            <a:off x="548640" y="1737360"/>
            <a:ext cx="4937760" cy="18288"/>
          </a:xfrm>
          <a:prstGeom prst="rect">
            <a:avLst/>
          </a:prstGeom>
          <a:solidFill>
            <a:srgbClr val="FF7E5F"/>
          </a:solidFill>
          <a:ln/>
        </p:spPr>
      </p:sp>
      <p:sp>
        <p:nvSpPr>
          <p:cNvPr id="8" name="Shape 5"/>
          <p:cNvSpPr/>
          <p:nvPr/>
        </p:nvSpPr>
        <p:spPr>
          <a:xfrm>
            <a:off x="548640" y="2057400"/>
            <a:ext cx="4937760" cy="9144"/>
          </a:xfrm>
          <a:prstGeom prst="rect">
            <a:avLst/>
          </a:prstGeom>
          <a:solidFill>
            <a:srgbClr val="2E2B43"/>
          </a:solidFill>
          <a:ln/>
        </p:spPr>
      </p:sp>
      <p:sp>
        <p:nvSpPr>
          <p:cNvPr id="9" name="Shape 6"/>
          <p:cNvSpPr/>
          <p:nvPr/>
        </p:nvSpPr>
        <p:spPr>
          <a:xfrm>
            <a:off x="548640" y="3540415"/>
            <a:ext cx="4937760" cy="18288"/>
          </a:xfrm>
          <a:prstGeom prst="rect">
            <a:avLst/>
          </a:prstGeom>
          <a:solidFill>
            <a:srgbClr val="FF7E5F"/>
          </a:solidFill>
          <a:ln/>
        </p:spPr>
      </p:sp>
      <p:sp>
        <p:nvSpPr>
          <p:cNvPr id="10" name="Text 7"/>
          <p:cNvSpPr/>
          <p:nvPr/>
        </p:nvSpPr>
        <p:spPr>
          <a:xfrm>
            <a:off x="548640" y="3793071"/>
            <a:ext cx="4937760" cy="274320"/>
          </a:xfrm>
          <a:prstGeom prst="rect">
            <a:avLst/>
          </a:prstGeom>
          <a:noFill/>
          <a:ln/>
        </p:spPr>
        <p:txBody>
          <a:bodyPr wrap="square" rtlCol="0" anchor="ctr"/>
          <a:lstStyle/>
          <a:p>
            <a:pPr marL="0" indent="0">
              <a:buNone/>
            </a:pPr>
            <a:r>
              <a:rPr lang="en-US" sz="1100" b="1" dirty="0">
                <a:solidFill>
                  <a:srgbClr val="34D399"/>
                </a:solidFill>
                <a:latin typeface="Trebuchet MS" pitchFamily="34" charset="0"/>
                <a:ea typeface="Trebuchet MS" pitchFamily="34" charset="-122"/>
                <a:cs typeface="Trebuchet MS" pitchFamily="34" charset="-120"/>
              </a:rPr>
              <a:t>LOG TRANSFORMATION NORMALIZATION EFFECT</a:t>
            </a:r>
            <a:endParaRPr lang="en-US" sz="1100" dirty="0"/>
          </a:p>
        </p:txBody>
      </p:sp>
      <p:sp>
        <p:nvSpPr>
          <p:cNvPr id="11" name="Text 8"/>
          <p:cNvSpPr/>
          <p:nvPr/>
        </p:nvSpPr>
        <p:spPr>
          <a:xfrm>
            <a:off x="538697" y="3692487"/>
            <a:ext cx="4937760" cy="1371600"/>
          </a:xfrm>
          <a:prstGeom prst="rect">
            <a:avLst/>
          </a:prstGeom>
          <a:noFill/>
          <a:ln/>
        </p:spPr>
        <p:txBody>
          <a:bodyPr wrap="square" rtlCol="0" anchor="ctr"/>
          <a:lstStyle/>
          <a:p>
            <a:pPr marL="0" indent="0">
              <a:lnSpc>
                <a:spcPts val="1300"/>
              </a:lnSpc>
              <a:buNone/>
            </a:pPr>
            <a:r>
              <a:rPr lang="en-US" sz="1000" dirty="0">
                <a:solidFill>
                  <a:srgbClr val="E2E2EC"/>
                </a:solidFill>
                <a:latin typeface="Segoe UI" pitchFamily="34" charset="0"/>
                <a:ea typeface="Segoe UI" pitchFamily="34" charset="-122"/>
                <a:cs typeface="Segoe UI" pitchFamily="34" charset="-120"/>
              </a:rPr>
              <a:t>Applying np.log1p compressed right-skewed prices, reducing skewness from 1.88 to 0.12. Residuals matched standard normal assumptions, yielding high OLS benchmarks.</a:t>
            </a:r>
            <a:endParaRPr lang="en-US" sz="1000" dirty="0"/>
          </a:p>
        </p:txBody>
      </p:sp>
      <p:sp>
        <p:nvSpPr>
          <p:cNvPr id="6" name="Shape 9"/>
          <p:cNvSpPr/>
          <p:nvPr/>
        </p:nvSpPr>
        <p:spPr>
          <a:xfrm>
            <a:off x="5943600" y="1371600"/>
            <a:ext cx="18288" cy="4389120"/>
          </a:xfrm>
          <a:prstGeom prst="rect">
            <a:avLst/>
          </a:prstGeom>
          <a:solidFill>
            <a:srgbClr val="2E2B43"/>
          </a:solidFill>
          <a:ln/>
        </p:spPr>
      </p:sp>
      <p:sp>
        <p:nvSpPr>
          <p:cNvPr id="13" name="Text 10"/>
          <p:cNvSpPr/>
          <p:nvPr/>
        </p:nvSpPr>
        <p:spPr>
          <a:xfrm>
            <a:off x="6217920" y="1371600"/>
            <a:ext cx="5394960" cy="274320"/>
          </a:xfrm>
          <a:prstGeom prst="rect">
            <a:avLst/>
          </a:prstGeom>
          <a:noFill/>
          <a:ln/>
        </p:spPr>
        <p:txBody>
          <a:bodyPr wrap="square" rtlCol="0" anchor="ctr"/>
          <a:lstStyle/>
          <a:p>
            <a:pPr marL="0" indent="0">
              <a:buNone/>
            </a:pPr>
            <a:r>
              <a:rPr lang="en-US" sz="1300" b="1" dirty="0">
                <a:solidFill>
                  <a:srgbClr val="FF7E5F"/>
                </a:solidFill>
                <a:latin typeface="Trebuchet MS" pitchFamily="34" charset="0"/>
                <a:ea typeface="Trebuchet MS" pitchFamily="34" charset="-122"/>
                <a:cs typeface="Trebuchet MS" pitchFamily="34" charset="-120"/>
              </a:rPr>
              <a:t>GRID SEARCH CV HYPERPARAMETER TUNING</a:t>
            </a:r>
            <a:endParaRPr lang="en-US" sz="1300" dirty="0"/>
          </a:p>
        </p:txBody>
      </p:sp>
      <p:sp>
        <p:nvSpPr>
          <p:cNvPr id="14" name="Text 11"/>
          <p:cNvSpPr/>
          <p:nvPr/>
        </p:nvSpPr>
        <p:spPr>
          <a:xfrm>
            <a:off x="6217920" y="1828800"/>
            <a:ext cx="5394960" cy="3931920"/>
          </a:xfrm>
          <a:prstGeom prst="rect">
            <a:avLst/>
          </a:prstGeom>
          <a:noFill/>
          <a:ln/>
        </p:spPr>
        <p:txBody>
          <a:bodyPr wrap="square" rtlCol="0" anchor="t"/>
          <a:lstStyle/>
          <a:p>
            <a:pPr marL="0" indent="0">
              <a:lnSpc>
                <a:spcPts val="1200"/>
              </a:lnSpc>
              <a:buNone/>
            </a:pPr>
            <a:r>
              <a:rPr lang="en-US" sz="1050" b="1" dirty="0">
                <a:solidFill>
                  <a:srgbClr val="FFFFFF"/>
                </a:solidFill>
                <a:latin typeface="Segoe UI" pitchFamily="34" charset="0"/>
                <a:ea typeface="Segoe UI" pitchFamily="34" charset="-122"/>
                <a:cs typeface="Segoe UI" pitchFamily="34" charset="-120"/>
              </a:rPr>
              <a:t>• Hyperparameter Tuning Strategy:
</a:t>
            </a:r>
            <a:r>
              <a:rPr lang="en-US" sz="1050" dirty="0">
                <a:solidFill>
                  <a:srgbClr val="E2E2EC"/>
                </a:solidFill>
                <a:latin typeface="Segoe UI" pitchFamily="34" charset="0"/>
                <a:ea typeface="Segoe UI" pitchFamily="34" charset="-122"/>
                <a:cs typeface="Segoe UI" pitchFamily="34" charset="-120"/>
              </a:rPr>
              <a:t>We used GridSearchCV with 3-fold cross-validation exclusively on the training set to prevent data leakage.
</a:t>
            </a:r>
            <a:r>
              <a:rPr lang="en-US" sz="1050" b="1" dirty="0">
                <a:solidFill>
                  <a:srgbClr val="FFFFFF"/>
                </a:solidFill>
                <a:latin typeface="Segoe UI" pitchFamily="34" charset="0"/>
                <a:ea typeface="Segoe UI" pitchFamily="34" charset="-122"/>
                <a:cs typeface="Segoe UI" pitchFamily="34" charset="-120"/>
              </a:rPr>
              <a:t>• Values Tested:
</a:t>
            </a:r>
            <a:r>
              <a:rPr lang="en-US" sz="1050" dirty="0">
                <a:solidFill>
                  <a:srgbClr val="E2E2EC"/>
                </a:solidFill>
                <a:latin typeface="Segoe UI" pitchFamily="34" charset="0"/>
                <a:ea typeface="Segoe UI" pitchFamily="34" charset="-122"/>
                <a:cs typeface="Segoe UI" pitchFamily="34" charset="-120"/>
              </a:rPr>
              <a:t>Tested L2 regularizer strengths alpha = [0.1, 1, 10, 100].
</a:t>
            </a:r>
            <a:r>
              <a:rPr lang="en-US" sz="1050" b="1" dirty="0">
                <a:solidFill>
                  <a:srgbClr val="FFFFFF"/>
                </a:solidFill>
                <a:latin typeface="Segoe UI" pitchFamily="34" charset="0"/>
                <a:ea typeface="Segoe UI" pitchFamily="34" charset="-122"/>
                <a:cs typeface="Segoe UI" pitchFamily="34" charset="-120"/>
              </a:rPr>
              <a:t>• Tuning Outcome:
</a:t>
            </a:r>
            <a:r>
              <a:rPr lang="en-US" sz="1050" dirty="0">
                <a:solidFill>
                  <a:srgbClr val="E2E2EC"/>
                </a:solidFill>
                <a:latin typeface="Segoe UI" pitchFamily="34" charset="0"/>
                <a:ea typeface="Segoe UI" pitchFamily="34" charset="-122"/>
                <a:cs typeface="Segoe UI" pitchFamily="34" charset="-120"/>
              </a:rPr>
              <a:t>Alpha = 10 won, producing an optimal cv-RMSE of 0.1473 (log scale). The model performance is stable around alpha=10, indicating the L2 regularizer is primarily serving to address correlation without over-shrinking parameters.
</a:t>
            </a:r>
            <a:r>
              <a:rPr lang="en-US" sz="1050" b="1" dirty="0">
                <a:solidFill>
                  <a:srgbClr val="FFFFFF"/>
                </a:solidFill>
                <a:latin typeface="Segoe UI" pitchFamily="34" charset="0"/>
                <a:ea typeface="Segoe UI" pitchFamily="34" charset="-122"/>
                <a:cs typeface="Segoe UI" pitchFamily="34" charset="-120"/>
              </a:rPr>
              <a:t>• Model Export:
</a:t>
            </a:r>
            <a:r>
              <a:rPr lang="en-US" sz="1050" dirty="0">
                <a:solidFill>
                  <a:srgbClr val="E2E2EC"/>
                </a:solidFill>
                <a:latin typeface="Segoe UI" pitchFamily="34" charset="0"/>
                <a:ea typeface="Segoe UI" pitchFamily="34" charset="-122"/>
                <a:cs typeface="Segoe UI" pitchFamily="34" charset="-120"/>
              </a:rPr>
              <a:t>Trained model serialized as best_model.pkl for server deployment.</a:t>
            </a:r>
            <a:endParaRPr lang="en-US" sz="1050" dirty="0"/>
          </a:p>
        </p:txBody>
      </p:sp>
      <p:sp>
        <p:nvSpPr>
          <p:cNvPr id="15"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Final Test Set Evaluation</a:t>
            </a:r>
            <a:endParaRPr lang="en-US" sz="2400" dirty="0"/>
          </a:p>
        </p:txBody>
      </p:sp>
      <p:sp>
        <p:nvSpPr>
          <p:cNvPr id="4" name="Shape 2"/>
          <p:cNvSpPr/>
          <p:nvPr/>
        </p:nvSpPr>
        <p:spPr>
          <a:xfrm>
            <a:off x="548640" y="1051560"/>
            <a:ext cx="11064240" cy="18288"/>
          </a:xfrm>
          <a:prstGeom prst="rect">
            <a:avLst/>
          </a:prstGeom>
          <a:solidFill>
            <a:srgbClr val="FF7E5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5120640" cy="1737360"/>
        </p:xfrm>
        <a:graphic>
          <a:graphicData uri="http://schemas.openxmlformats.org/drawingml/2006/table">
            <a:tbl>
              <a:tblPr/>
              <a:tblGrid>
                <a:gridCol w="25603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579120">
                <a:tc>
                  <a:txBody>
                    <a:bodyPr/>
                    <a:lstStyle/>
                    <a:p>
                      <a:pPr marL="0" indent="0" algn="l">
                        <a:buNone/>
                      </a:pPr>
                      <a:r>
                        <a:rPr lang="en-US" sz="3200" b="1" dirty="0">
                          <a:solidFill>
                            <a:srgbClr val="FF7E5F"/>
                          </a:solidFill>
                          <a:latin typeface="Trebuchet MS" pitchFamily="34" charset="0"/>
                          <a:ea typeface="Trebuchet MS" pitchFamily="34" charset="-122"/>
                          <a:cs typeface="Trebuchet MS" pitchFamily="34" charset="-120"/>
                        </a:rPr>
                        <a:t>0.917</a:t>
                      </a:r>
                      <a:endParaRPr lang="en-US" sz="320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950" b="1" dirty="0">
                          <a:solidFill>
                            <a:srgbClr val="A7A9BE"/>
                          </a:solidFill>
                          <a:latin typeface="Segoe UI" pitchFamily="34" charset="0"/>
                          <a:ea typeface="Segoe UI" pitchFamily="34" charset="-122"/>
                          <a:cs typeface="Segoe UI" pitchFamily="34" charset="-120"/>
                        </a:rPr>
                        <a:t>TEST R² SCORE</a:t>
                      </a:r>
                      <a:endParaRPr lang="en-US" sz="950" dirty="0">
                        <a:latin typeface="Segoe UI" charset="0"/>
                        <a:ea typeface="Segoe UI" charset="0"/>
                        <a:cs typeface="Segoe UI" charset="0"/>
                      </a:endParaRPr>
                    </a:p>
                    <a:p>
                      <a:pPr marL="0" indent="0" algn="l">
                        <a:buNone/>
                      </a:pPr>
                      <a:r>
                        <a:rPr lang="en-US" sz="950" b="1" dirty="0">
                          <a:solidFill>
                            <a:srgbClr val="A7A9BE"/>
                          </a:solidFill>
                          <a:latin typeface="Segoe UI" pitchFamily="34" charset="0"/>
                          <a:ea typeface="Segoe UI" pitchFamily="34" charset="-122"/>
                          <a:cs typeface="Segoe UI" pitchFamily="34" charset="-120"/>
                        </a:rPr>
                        <a:t>(Target: ≥ 0.85)</a:t>
                      </a:r>
                      <a:endParaRPr lang="en-US" sz="9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0"/>
                  </a:ext>
                </a:extLst>
              </a:tr>
              <a:tr h="579120">
                <a:tc>
                  <a:txBody>
                    <a:bodyPr/>
                    <a:lstStyle/>
                    <a:p>
                      <a:pPr marL="0" indent="0" algn="l">
                        <a:buNone/>
                      </a:pPr>
                      <a:r>
                        <a:rPr lang="en-US" sz="3200" b="1" dirty="0">
                          <a:solidFill>
                            <a:srgbClr val="FF7E5F"/>
                          </a:solidFill>
                          <a:latin typeface="Trebuchet MS" pitchFamily="34" charset="0"/>
                          <a:ea typeface="Trebuchet MS" pitchFamily="34" charset="-122"/>
                          <a:cs typeface="Trebuchet MS" pitchFamily="34" charset="-120"/>
                        </a:rPr>
                        <a:t>$25,298</a:t>
                      </a:r>
                      <a:endParaRPr lang="en-US" sz="320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950" b="1" dirty="0">
                          <a:solidFill>
                            <a:srgbClr val="A7A9BE"/>
                          </a:solidFill>
                          <a:latin typeface="Segoe UI" pitchFamily="34" charset="0"/>
                          <a:ea typeface="Segoe UI" pitchFamily="34" charset="-122"/>
                          <a:cs typeface="Segoe UI" pitchFamily="34" charset="-120"/>
                        </a:rPr>
                        <a:t>TEST RMSE ERROR</a:t>
                      </a:r>
                      <a:endParaRPr lang="en-US" sz="950" dirty="0">
                        <a:latin typeface="Segoe UI" charset="0"/>
                        <a:ea typeface="Segoe UI" charset="0"/>
                        <a:cs typeface="Segoe UI" charset="0"/>
                      </a:endParaRPr>
                    </a:p>
                    <a:p>
                      <a:pPr marL="0" indent="0" algn="l">
                        <a:buNone/>
                      </a:pPr>
                      <a:r>
                        <a:rPr lang="en-US" sz="950" b="1" dirty="0">
                          <a:solidFill>
                            <a:srgbClr val="A7A9BE"/>
                          </a:solidFill>
                          <a:latin typeface="Segoe UI" pitchFamily="34" charset="0"/>
                          <a:ea typeface="Segoe UI" pitchFamily="34" charset="-122"/>
                          <a:cs typeface="Segoe UI" pitchFamily="34" charset="-120"/>
                        </a:rPr>
                        <a:t>(Target: ≤ $30,000)</a:t>
                      </a:r>
                      <a:endParaRPr lang="en-US" sz="9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579120">
                <a:tc>
                  <a:txBody>
                    <a:bodyPr/>
                    <a:lstStyle/>
                    <a:p>
                      <a:pPr marL="0" indent="0" algn="l">
                        <a:buNone/>
                      </a:pPr>
                      <a:r>
                        <a:rPr lang="en-US" sz="3200" b="1" dirty="0">
                          <a:solidFill>
                            <a:srgbClr val="FF7E5F"/>
                          </a:solidFill>
                          <a:latin typeface="Trebuchet MS" pitchFamily="34" charset="0"/>
                          <a:ea typeface="Trebuchet MS" pitchFamily="34" charset="-122"/>
                          <a:cs typeface="Trebuchet MS" pitchFamily="34" charset="-120"/>
                        </a:rPr>
                        <a:t>9.8%</a:t>
                      </a:r>
                      <a:endParaRPr lang="en-US" sz="320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950" b="1" dirty="0">
                          <a:solidFill>
                            <a:srgbClr val="A7A9BE"/>
                          </a:solidFill>
                          <a:latin typeface="Segoe UI" pitchFamily="34" charset="0"/>
                          <a:ea typeface="Segoe UI" pitchFamily="34" charset="-122"/>
                          <a:cs typeface="Segoe UI" pitchFamily="34" charset="-120"/>
                        </a:rPr>
                        <a:t>TEST MAPE ERROR</a:t>
                      </a:r>
                      <a:endParaRPr lang="en-US" sz="950" dirty="0">
                        <a:latin typeface="Segoe UI" charset="0"/>
                        <a:ea typeface="Segoe UI" charset="0"/>
                        <a:cs typeface="Segoe UI" charset="0"/>
                      </a:endParaRPr>
                    </a:p>
                    <a:p>
                      <a:pPr marL="0" indent="0" algn="l">
                        <a:buNone/>
                      </a:pPr>
                      <a:r>
                        <a:rPr lang="en-US" sz="950" b="1" dirty="0">
                          <a:solidFill>
                            <a:srgbClr val="A7A9BE"/>
                          </a:solidFill>
                          <a:latin typeface="Segoe UI" pitchFamily="34" charset="0"/>
                          <a:ea typeface="Segoe UI" pitchFamily="34" charset="-122"/>
                          <a:cs typeface="Segoe UI" pitchFamily="34" charset="-120"/>
                        </a:rPr>
                        <a:t>(Target: ≤ 15.0%)</a:t>
                      </a:r>
                      <a:endParaRPr lang="en-US" sz="9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bl>
          </a:graphicData>
        </a:graphic>
      </p:graphicFrame>
      <p:sp>
        <p:nvSpPr>
          <p:cNvPr id="6" name="Shape 3"/>
          <p:cNvSpPr/>
          <p:nvPr/>
        </p:nvSpPr>
        <p:spPr>
          <a:xfrm>
            <a:off x="548640" y="3063240"/>
            <a:ext cx="5120640" cy="9144"/>
          </a:xfrm>
          <a:prstGeom prst="rect">
            <a:avLst/>
          </a:prstGeom>
          <a:solidFill>
            <a:srgbClr val="2E2B43"/>
          </a:solidFill>
          <a:ln/>
        </p:spPr>
      </p:sp>
      <p:sp>
        <p:nvSpPr>
          <p:cNvPr id="7" name="Text 4"/>
          <p:cNvSpPr/>
          <p:nvPr/>
        </p:nvSpPr>
        <p:spPr>
          <a:xfrm>
            <a:off x="548640" y="3246120"/>
            <a:ext cx="5120640" cy="228600"/>
          </a:xfrm>
          <a:prstGeom prst="rect">
            <a:avLst/>
          </a:prstGeom>
          <a:noFill/>
          <a:ln/>
        </p:spPr>
        <p:txBody>
          <a:bodyPr wrap="square" rtlCol="0" anchor="ctr"/>
          <a:lstStyle/>
          <a:p>
            <a:pPr marL="0" indent="0">
              <a:buNone/>
            </a:pPr>
            <a:r>
              <a:rPr lang="en-US" sz="1200" b="1" dirty="0">
                <a:solidFill>
                  <a:srgbClr val="FF7E5F"/>
                </a:solidFill>
                <a:latin typeface="Trebuchet MS" pitchFamily="34" charset="0"/>
                <a:ea typeface="Trebuchet MS" pitchFamily="34" charset="-122"/>
                <a:cs typeface="Trebuchet MS" pitchFamily="34" charset="-120"/>
              </a:rPr>
              <a:t>VALIDATION SUMMARY</a:t>
            </a:r>
            <a:endParaRPr lang="en-US" sz="1200" dirty="0"/>
          </a:p>
        </p:txBody>
      </p:sp>
      <p:sp>
        <p:nvSpPr>
          <p:cNvPr id="8" name="Text 5"/>
          <p:cNvSpPr/>
          <p:nvPr/>
        </p:nvSpPr>
        <p:spPr>
          <a:xfrm>
            <a:off x="548640" y="3566160"/>
            <a:ext cx="5120640" cy="2743200"/>
          </a:xfrm>
          <a:prstGeom prst="rect">
            <a:avLst/>
          </a:prstGeom>
          <a:noFill/>
          <a:ln/>
        </p:spPr>
        <p:txBody>
          <a:bodyPr wrap="square" rtlCol="0" anchor="t"/>
          <a:lstStyle/>
          <a:p>
            <a:pPr marL="0" indent="0">
              <a:lnSpc>
                <a:spcPts val="1300"/>
              </a:lnSpc>
              <a:buNone/>
            </a:pPr>
            <a:r>
              <a:rPr lang="en-US" sz="1000" b="1" dirty="0">
                <a:solidFill>
                  <a:srgbClr val="FF7E5F"/>
                </a:solidFill>
                <a:latin typeface="Segoe UI" pitchFamily="34" charset="0"/>
                <a:ea typeface="Segoe UI" pitchFamily="34" charset="-122"/>
                <a:cs typeface="Segoe UI" pitchFamily="34" charset="-120"/>
              </a:rPr>
              <a:t>• Validation Summary: </a:t>
            </a:r>
            <a:r>
              <a:rPr lang="en-US" sz="1000" dirty="0">
                <a:solidFill>
                  <a:srgbClr val="FFFFFE"/>
                </a:solidFill>
                <a:latin typeface="Segoe UI" pitchFamily="34" charset="0"/>
                <a:ea typeface="Segoe UI" pitchFamily="34" charset="-122"/>
                <a:cs typeface="Segoe UI" pitchFamily="34" charset="-120"/>
              </a:rPr>
              <a:t>Our Ridge model exceeded all target requirements. Exceeded the R² baseline by 6.7% and beat the RMSE ceiling by $4,702.
</a:t>
            </a:r>
            <a:r>
              <a:rPr lang="en-US" sz="1000" b="1" dirty="0">
                <a:solidFill>
                  <a:srgbClr val="FF7E5F"/>
                </a:solidFill>
                <a:latin typeface="Segoe UI" pitchFamily="34" charset="0"/>
                <a:ea typeface="Segoe UI" pitchFamily="34" charset="-122"/>
                <a:cs typeface="Segoe UI" pitchFamily="34" charset="-120"/>
              </a:rPr>
              <a:t>• MAE Score: </a:t>
            </a:r>
            <a:r>
              <a:rPr lang="en-US" sz="1000" dirty="0">
                <a:solidFill>
                  <a:srgbClr val="FFFFFE"/>
                </a:solidFill>
                <a:latin typeface="Segoe UI" pitchFamily="34" charset="0"/>
                <a:ea typeface="Segoe UI" pitchFamily="34" charset="-122"/>
                <a:cs typeface="Segoe UI" pitchFamily="34" charset="-120"/>
              </a:rPr>
              <a:t>Mean Absolute Error was minimized to $16,365.
</a:t>
            </a:r>
            <a:r>
              <a:rPr lang="en-US" sz="1000" b="1" dirty="0">
                <a:solidFill>
                  <a:srgbClr val="FF7E5F"/>
                </a:solidFill>
                <a:latin typeface="Segoe UI" pitchFamily="34" charset="0"/>
                <a:ea typeface="Segoe UI" pitchFamily="34" charset="-122"/>
                <a:cs typeface="Segoe UI" pitchFamily="34" charset="-120"/>
              </a:rPr>
              <a:t>• Operational Significance: </a:t>
            </a:r>
            <a:r>
              <a:rPr lang="en-US" sz="1000" dirty="0">
                <a:solidFill>
                  <a:srgbClr val="E2E2EC"/>
                </a:solidFill>
                <a:latin typeface="Segoe UI" pitchFamily="34" charset="0"/>
                <a:ea typeface="Segoe UI" pitchFamily="34" charset="-122"/>
                <a:cs typeface="Segoe UI" pitchFamily="34" charset="-120"/>
              </a:rPr>
              <a:t>For a typical $200,000 Ames property, model predictions sit within ±$25,298 about 68% of the time (1 standard deviation), providing a highly reliable algorithmic baseline for agents.</a:t>
            </a:r>
            <a:endParaRPr lang="en-US" sz="1000" dirty="0"/>
          </a:p>
        </p:txBody>
      </p:sp>
      <p:sp>
        <p:nvSpPr>
          <p:cNvPr id="9" name="Shape 6"/>
          <p:cNvSpPr/>
          <p:nvPr/>
        </p:nvSpPr>
        <p:spPr>
          <a:xfrm>
            <a:off x="5943600" y="1371600"/>
            <a:ext cx="5669280" cy="4389120"/>
          </a:xfrm>
          <a:prstGeom prst="rect">
            <a:avLst/>
          </a:prstGeom>
          <a:solidFill>
            <a:srgbClr val="FFFFFF"/>
          </a:solidFill>
          <a:ln w="12700">
            <a:solidFill>
              <a:srgbClr val="E2E8F0"/>
            </a:solidFill>
            <a:prstDash val="solid"/>
          </a:ln>
        </p:spPr>
      </p:sp>
      <p:pic>
        <p:nvPicPr>
          <p:cNvPr id="10" name="Image 0" descr="C:\Users\PRO\Desktop\data_science_project\reports\figures\fig9_residuals.png"/>
          <p:cNvPicPr>
            <a:picLocks noChangeAspect="1"/>
          </p:cNvPicPr>
          <p:nvPr/>
        </p:nvPicPr>
        <p:blipFill>
          <a:blip r:embed="rId3"/>
          <a:stretch>
            <a:fillRect/>
          </a:stretch>
        </p:blipFill>
        <p:spPr>
          <a:xfrm>
            <a:off x="6126480" y="1554480"/>
            <a:ext cx="5303520" cy="4023360"/>
          </a:xfrm>
          <a:prstGeom prst="rect">
            <a:avLst/>
          </a:prstGeom>
        </p:spPr>
      </p:pic>
      <p:sp>
        <p:nvSpPr>
          <p:cNvPr id="11"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Feature Importance &amp; Neighborhood Dominance</a:t>
            </a:r>
            <a:endParaRPr lang="en-US" sz="2400" dirty="0"/>
          </a:p>
        </p:txBody>
      </p:sp>
      <p:sp>
        <p:nvSpPr>
          <p:cNvPr id="4" name="Shape 2"/>
          <p:cNvSpPr/>
          <p:nvPr/>
        </p:nvSpPr>
        <p:spPr>
          <a:xfrm>
            <a:off x="548640" y="1051560"/>
            <a:ext cx="11064240" cy="18288"/>
          </a:xfrm>
          <a:prstGeom prst="rect">
            <a:avLst/>
          </a:prstGeom>
          <a:solidFill>
            <a:srgbClr val="FF7E5F"/>
          </a:solidFill>
          <a:ln/>
        </p:spPr>
      </p:sp>
      <p:sp>
        <p:nvSpPr>
          <p:cNvPr id="5" name="Text 3"/>
          <p:cNvSpPr/>
          <p:nvPr/>
        </p:nvSpPr>
        <p:spPr>
          <a:xfrm>
            <a:off x="548640" y="1371600"/>
            <a:ext cx="5120640" cy="274320"/>
          </a:xfrm>
          <a:prstGeom prst="rect">
            <a:avLst/>
          </a:prstGeom>
          <a:noFill/>
          <a:ln/>
        </p:spPr>
        <p:txBody>
          <a:bodyPr wrap="square" rtlCol="0" anchor="ctr"/>
          <a:lstStyle/>
          <a:p>
            <a:pPr marL="0" indent="0">
              <a:buNone/>
            </a:pPr>
            <a:r>
              <a:rPr lang="en-US" sz="1200" b="1" dirty="0">
                <a:solidFill>
                  <a:srgbClr val="FF7E5F"/>
                </a:solidFill>
                <a:latin typeface="Trebuchet MS" pitchFamily="34" charset="0"/>
                <a:ea typeface="Trebuchet MS" pitchFamily="34" charset="-122"/>
                <a:cs typeface="Trebuchet MS" pitchFamily="34" charset="-120"/>
              </a:rPr>
              <a:t>TOP RIDGE COEFFICIENTS (LOG IMPACT)</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4937760" cy="219456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274320">
                <a:tc>
                  <a:txBody>
                    <a:bodyPr/>
                    <a:lstStyle/>
                    <a:p>
                      <a:pPr marL="0" indent="0" algn="ctr">
                        <a:buNone/>
                      </a:pPr>
                      <a:r>
                        <a:rPr lang="en-US" sz="950" b="1" dirty="0">
                          <a:solidFill>
                            <a:srgbClr val="FF7E5F"/>
                          </a:solidFill>
                          <a:latin typeface="Trebuchet MS" pitchFamily="34" charset="0"/>
                          <a:ea typeface="Trebuchet MS" pitchFamily="34" charset="-122"/>
                          <a:cs typeface="Trebuchet MS" pitchFamily="34" charset="-120"/>
                        </a:rPr>
                        <a:t>Feature Name</a:t>
                      </a:r>
                      <a:endParaRPr lang="en-US" sz="9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950" b="1" dirty="0">
                          <a:solidFill>
                            <a:srgbClr val="FF7E5F"/>
                          </a:solidFill>
                          <a:latin typeface="Trebuchet MS" pitchFamily="34" charset="0"/>
                          <a:ea typeface="Trebuchet MS" pitchFamily="34" charset="-122"/>
                          <a:cs typeface="Trebuchet MS" pitchFamily="34" charset="-120"/>
                        </a:rPr>
                        <a:t>Impact</a:t>
                      </a:r>
                      <a:endParaRPr lang="en-US" sz="9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950" b="1" dirty="0">
                          <a:solidFill>
                            <a:srgbClr val="FF7E5F"/>
                          </a:solidFill>
                          <a:latin typeface="Trebuchet MS" pitchFamily="34" charset="0"/>
                          <a:ea typeface="Trebuchet MS" pitchFamily="34" charset="-122"/>
                          <a:cs typeface="Trebuchet MS" pitchFamily="34" charset="-120"/>
                        </a:rPr>
                        <a:t>Details</a:t>
                      </a:r>
                      <a:endParaRPr lang="en-US" sz="950" dirty="0">
                        <a:latin typeface="Trebuchet MS" charset="0"/>
                        <a:ea typeface="Trebuchet MS" charset="0"/>
                        <a:cs typeface="Trebuchet MS"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0"/>
                  </a:ext>
                </a:extLst>
              </a:tr>
              <a:tr h="274320">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1. Neighborhood_StoneBr</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b="1" dirty="0">
                          <a:solidFill>
                            <a:srgbClr val="34D399"/>
                          </a:solidFill>
                          <a:latin typeface="Segoe UI" pitchFamily="34" charset="0"/>
                          <a:ea typeface="Segoe UI" pitchFamily="34" charset="-122"/>
                          <a:cs typeface="Segoe UI" pitchFamily="34" charset="-120"/>
                        </a:rPr>
                        <a:t>+0.0957</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Premium location</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1"/>
                  </a:ext>
                </a:extLst>
              </a:tr>
              <a:tr h="274320">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2. Neighborhood_Crawfor</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b="1" dirty="0">
                          <a:solidFill>
                            <a:srgbClr val="34D399"/>
                          </a:solidFill>
                          <a:latin typeface="Segoe UI" pitchFamily="34" charset="0"/>
                          <a:ea typeface="Segoe UI" pitchFamily="34" charset="-122"/>
                          <a:cs typeface="Segoe UI" pitchFamily="34" charset="-120"/>
                        </a:rPr>
                        <a:t>+0.0838</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Historical appeal</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2"/>
                  </a:ext>
                </a:extLst>
              </a:tr>
              <a:tr h="274320">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3. Neighborhood_NridgHt</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b="1" dirty="0">
                          <a:solidFill>
                            <a:srgbClr val="34D399"/>
                          </a:solidFill>
                          <a:latin typeface="Segoe UI" pitchFamily="34" charset="0"/>
                          <a:ea typeface="Segoe UI" pitchFamily="34" charset="-122"/>
                          <a:cs typeface="Segoe UI" pitchFamily="34" charset="-120"/>
                        </a:rPr>
                        <a:t>+0.0829</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Luxury area</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3"/>
                  </a:ext>
                </a:extLst>
              </a:tr>
              <a:tr h="274320">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4. Condition2_PosN</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b="1" dirty="0">
                          <a:solidFill>
                            <a:srgbClr val="34D399"/>
                          </a:solidFill>
                          <a:latin typeface="Segoe UI" pitchFamily="34" charset="0"/>
                          <a:ea typeface="Segoe UI" pitchFamily="34" charset="-122"/>
                          <a:cs typeface="Segoe UI" pitchFamily="34" charset="-120"/>
                        </a:rPr>
                        <a:t>+0.0826</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Near park/nature</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4"/>
                  </a:ext>
                </a:extLst>
              </a:tr>
              <a:tr h="274320">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5. Exterior1st_BrkFace</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b="1" dirty="0">
                          <a:solidFill>
                            <a:srgbClr val="34D399"/>
                          </a:solidFill>
                          <a:latin typeface="Segoe UI" pitchFamily="34" charset="0"/>
                          <a:ea typeface="Segoe UI" pitchFamily="34" charset="-122"/>
                          <a:cs typeface="Segoe UI" pitchFamily="34" charset="-120"/>
                        </a:rPr>
                        <a:t>+0.0695</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Brick exterior</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5"/>
                  </a:ext>
                </a:extLst>
              </a:tr>
              <a:tr h="274320">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6. Neighborhood_MeadowV</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b="1" dirty="0">
                          <a:solidFill>
                            <a:srgbClr val="FF7E5F"/>
                          </a:solidFill>
                          <a:latin typeface="Segoe UI" pitchFamily="34" charset="0"/>
                          <a:ea typeface="Segoe UI" pitchFamily="34" charset="-122"/>
                          <a:cs typeface="Segoe UI" pitchFamily="34" charset="-120"/>
                        </a:rPr>
                        <a:t>-0.0649</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MeadowV discount</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6"/>
                  </a:ext>
                </a:extLst>
              </a:tr>
              <a:tr h="274320">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7. Neighborhood_Edwards</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b="1" dirty="0">
                          <a:solidFill>
                            <a:srgbClr val="FF7E5F"/>
                          </a:solidFill>
                          <a:latin typeface="Segoe UI" pitchFamily="34" charset="0"/>
                          <a:ea typeface="Segoe UI" pitchFamily="34" charset="-122"/>
                          <a:cs typeface="Segoe UI" pitchFamily="34" charset="-120"/>
                        </a:rPr>
                        <a:t>-0.0632</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tc>
                  <a:txBody>
                    <a:bodyPr/>
                    <a:lstStyle/>
                    <a:p>
                      <a:pPr marL="0" indent="0" algn="ctr">
                        <a:buNone/>
                      </a:pPr>
                      <a:r>
                        <a:rPr lang="en-US" sz="850" dirty="0">
                          <a:solidFill>
                            <a:srgbClr val="FFFFFE"/>
                          </a:solidFill>
                          <a:latin typeface="Segoe UI" pitchFamily="34" charset="0"/>
                          <a:ea typeface="Segoe UI" pitchFamily="34" charset="-122"/>
                          <a:cs typeface="Segoe UI" pitchFamily="34" charset="-120"/>
                        </a:rPr>
                        <a:t>Edwards discount</a:t>
                      </a:r>
                      <a:endParaRPr lang="en-US" sz="850" dirty="0">
                        <a:latin typeface="Segoe UI" charset="0"/>
                        <a:ea typeface="Segoe UI" charset="0"/>
                        <a:cs typeface="Segoe UI" charset="0"/>
                      </a:endParaRPr>
                    </a:p>
                  </a:txBody>
                  <a:tcPr anchor="ctr">
                    <a:lnL w="0" cap="flat" cmpd="sng" algn="ctr">
                      <a:noFill/>
                    </a:lnL>
                    <a:lnR w="0" cap="flat" cmpd="sng" algn="ctr">
                      <a:noFill/>
                    </a:lnR>
                    <a:lnT w="0" cap="flat" cmpd="sng" algn="ctr">
                      <a:noFill/>
                    </a:lnT>
                    <a:lnB w="0" cap="flat" cmpd="sng" algn="ctr">
                      <a:noFill/>
                    </a:lnB>
                    <a:solidFill>
                      <a:srgbClr val="0F0E17"/>
                    </a:solidFill>
                  </a:tcPr>
                </a:tc>
                <a:extLst>
                  <a:ext uri="{0D108BD9-81ED-4DB2-BD59-A6C34878D82A}">
                    <a16:rowId xmlns:a16="http://schemas.microsoft.com/office/drawing/2014/main" val="10007"/>
                  </a:ext>
                </a:extLst>
              </a:tr>
            </a:tbl>
          </a:graphicData>
        </a:graphic>
      </p:graphicFrame>
      <p:sp>
        <p:nvSpPr>
          <p:cNvPr id="7" name="Shape 4"/>
          <p:cNvSpPr/>
          <p:nvPr/>
        </p:nvSpPr>
        <p:spPr>
          <a:xfrm>
            <a:off x="548640" y="1737360"/>
            <a:ext cx="4937760" cy="18288"/>
          </a:xfrm>
          <a:prstGeom prst="rect">
            <a:avLst/>
          </a:prstGeom>
          <a:solidFill>
            <a:srgbClr val="FF7E5F"/>
          </a:solidFill>
          <a:ln/>
        </p:spPr>
      </p:sp>
      <p:sp>
        <p:nvSpPr>
          <p:cNvPr id="8" name="Shape 5"/>
          <p:cNvSpPr/>
          <p:nvPr/>
        </p:nvSpPr>
        <p:spPr>
          <a:xfrm>
            <a:off x="548640" y="2057400"/>
            <a:ext cx="4937760" cy="9144"/>
          </a:xfrm>
          <a:prstGeom prst="rect">
            <a:avLst/>
          </a:prstGeom>
          <a:solidFill>
            <a:srgbClr val="2E2B43"/>
          </a:solidFill>
          <a:ln/>
        </p:spPr>
      </p:sp>
      <p:sp>
        <p:nvSpPr>
          <p:cNvPr id="9" name="Shape 6"/>
          <p:cNvSpPr/>
          <p:nvPr/>
        </p:nvSpPr>
        <p:spPr>
          <a:xfrm>
            <a:off x="548640" y="3977640"/>
            <a:ext cx="4937760" cy="18288"/>
          </a:xfrm>
          <a:prstGeom prst="rect">
            <a:avLst/>
          </a:prstGeom>
          <a:solidFill>
            <a:srgbClr val="FF7E5F"/>
          </a:solidFill>
          <a:ln/>
        </p:spPr>
      </p:sp>
      <p:sp>
        <p:nvSpPr>
          <p:cNvPr id="10" name="Text 7"/>
          <p:cNvSpPr/>
          <p:nvPr/>
        </p:nvSpPr>
        <p:spPr>
          <a:xfrm>
            <a:off x="548640" y="4114800"/>
            <a:ext cx="4937760" cy="1645920"/>
          </a:xfrm>
          <a:prstGeom prst="rect">
            <a:avLst/>
          </a:prstGeom>
          <a:noFill/>
          <a:ln/>
        </p:spPr>
        <p:txBody>
          <a:bodyPr wrap="square" rtlCol="0" anchor="t"/>
          <a:lstStyle/>
          <a:p>
            <a:pPr marL="0" indent="0">
              <a:lnSpc>
                <a:spcPts val="1200"/>
              </a:lnSpc>
              <a:buNone/>
            </a:pPr>
            <a:r>
              <a:rPr lang="en-US" sz="950" b="1" dirty="0">
                <a:solidFill>
                  <a:srgbClr val="FF7E5F"/>
                </a:solidFill>
                <a:latin typeface="Segoe UI" pitchFamily="34" charset="0"/>
                <a:ea typeface="Segoe UI" pitchFamily="34" charset="-122"/>
                <a:cs typeface="Segoe UI" pitchFamily="34" charset="-120"/>
              </a:rPr>
              <a:t>• Neighborhood Dominance: </a:t>
            </a:r>
            <a:r>
              <a:rPr lang="en-US" sz="950" dirty="0">
                <a:solidFill>
                  <a:srgbClr val="FFFFFE"/>
                </a:solidFill>
                <a:latin typeface="Segoe UI" pitchFamily="34" charset="0"/>
                <a:ea typeface="Segoe UI" pitchFamily="34" charset="-122"/>
                <a:cs typeface="Segoe UI" pitchFamily="34" charset="-120"/>
              </a:rPr>
              <a:t>5 of the top 8 coefficients are neighborhoods, indicating location dominates over physical features.
</a:t>
            </a:r>
            <a:r>
              <a:rPr lang="en-US" sz="950" b="1" dirty="0">
                <a:solidFill>
                  <a:srgbClr val="FF7E5F"/>
                </a:solidFill>
                <a:latin typeface="Segoe UI" pitchFamily="34" charset="0"/>
                <a:ea typeface="Segoe UI" pitchFamily="34" charset="-122"/>
                <a:cs typeface="Segoe UI" pitchFamily="34" charset="-120"/>
              </a:rPr>
              <a:t>• Why Ridge Won: </a:t>
            </a:r>
            <a:r>
              <a:rPr lang="en-US" sz="950" dirty="0">
                <a:solidFill>
                  <a:srgbClr val="FFFFFE"/>
                </a:solidFill>
                <a:latin typeface="Segoe UI" pitchFamily="34" charset="0"/>
                <a:ea typeface="Segoe UI" pitchFamily="34" charset="-122"/>
                <a:cs typeface="Segoe UI" pitchFamily="34" charset="-120"/>
              </a:rPr>
              <a:t>Tabular one-hot expansions create sparse, highly-correlated dimensions where Ridge L2 constraints excel, while XGBoost overfits.</a:t>
            </a:r>
            <a:endParaRPr lang="en-US" sz="950" dirty="0"/>
          </a:p>
        </p:txBody>
      </p:sp>
      <p:sp>
        <p:nvSpPr>
          <p:cNvPr id="11" name="Shape 8"/>
          <p:cNvSpPr/>
          <p:nvPr/>
        </p:nvSpPr>
        <p:spPr>
          <a:xfrm>
            <a:off x="5943600" y="1371600"/>
            <a:ext cx="5669280" cy="4389120"/>
          </a:xfrm>
          <a:prstGeom prst="rect">
            <a:avLst/>
          </a:prstGeom>
          <a:solidFill>
            <a:srgbClr val="FFFFFF"/>
          </a:solidFill>
          <a:ln w="12700">
            <a:solidFill>
              <a:srgbClr val="E2E8F0"/>
            </a:solidFill>
            <a:prstDash val="solid"/>
          </a:ln>
        </p:spPr>
      </p:sp>
      <p:pic>
        <p:nvPicPr>
          <p:cNvPr id="12" name="Image 0" descr="C:\Users\PRO\Desktop\data_science_project\reports\figures\fig10_feature_importance.png"/>
          <p:cNvPicPr>
            <a:picLocks noChangeAspect="1"/>
          </p:cNvPicPr>
          <p:nvPr/>
        </p:nvPicPr>
        <p:blipFill>
          <a:blip r:embed="rId3"/>
          <a:stretch>
            <a:fillRect/>
          </a:stretch>
        </p:blipFill>
        <p:spPr>
          <a:xfrm>
            <a:off x="6126480" y="1554480"/>
            <a:ext cx="5303520" cy="4023360"/>
          </a:xfrm>
          <a:prstGeom prst="rect">
            <a:avLst/>
          </a:prstGeom>
        </p:spPr>
      </p:pic>
      <p:sp>
        <p:nvSpPr>
          <p:cNvPr id="13"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Model Card &amp; Ethical Redlining Reflection</a:t>
            </a:r>
            <a:endParaRPr lang="en-US" sz="2400" dirty="0"/>
          </a:p>
        </p:txBody>
      </p:sp>
      <p:sp>
        <p:nvSpPr>
          <p:cNvPr id="4" name="Shape 2"/>
          <p:cNvSpPr/>
          <p:nvPr/>
        </p:nvSpPr>
        <p:spPr>
          <a:xfrm>
            <a:off x="548640" y="1051560"/>
            <a:ext cx="11064240" cy="18288"/>
          </a:xfrm>
          <a:prstGeom prst="rect">
            <a:avLst/>
          </a:prstGeom>
          <a:solidFill>
            <a:srgbClr val="FF7E5F"/>
          </a:solidFill>
          <a:ln/>
        </p:spPr>
      </p:sp>
      <p:sp>
        <p:nvSpPr>
          <p:cNvPr id="5" name="Text 3"/>
          <p:cNvSpPr/>
          <p:nvPr/>
        </p:nvSpPr>
        <p:spPr>
          <a:xfrm>
            <a:off x="548640" y="1371600"/>
            <a:ext cx="5120640" cy="274320"/>
          </a:xfrm>
          <a:prstGeom prst="rect">
            <a:avLst/>
          </a:prstGeom>
          <a:noFill/>
          <a:ln/>
        </p:spPr>
        <p:txBody>
          <a:bodyPr wrap="square" rtlCol="0" anchor="ctr"/>
          <a:lstStyle/>
          <a:p>
            <a:pPr marL="0" indent="0">
              <a:buNone/>
            </a:pPr>
            <a:r>
              <a:rPr lang="en-US" sz="1300" b="1" dirty="0">
                <a:solidFill>
                  <a:srgbClr val="FF7E5F"/>
                </a:solidFill>
                <a:latin typeface="Trebuchet MS" pitchFamily="34" charset="0"/>
                <a:ea typeface="Trebuchet MS" pitchFamily="34" charset="-122"/>
                <a:cs typeface="Trebuchet MS" pitchFamily="34" charset="-120"/>
              </a:rPr>
              <a:t>MODEL CARD DOCUMENTATION</a:t>
            </a:r>
            <a:endParaRPr lang="en-US" sz="1300" dirty="0"/>
          </a:p>
        </p:txBody>
      </p:sp>
      <p:sp>
        <p:nvSpPr>
          <p:cNvPr id="6" name="Text 4"/>
          <p:cNvSpPr/>
          <p:nvPr/>
        </p:nvSpPr>
        <p:spPr>
          <a:xfrm>
            <a:off x="548640" y="1828800"/>
            <a:ext cx="5120640" cy="4389120"/>
          </a:xfrm>
          <a:prstGeom prst="rect">
            <a:avLst/>
          </a:prstGeom>
          <a:noFill/>
          <a:ln/>
        </p:spPr>
        <p:txBody>
          <a:bodyPr wrap="square" rtlCol="0" anchor="t"/>
          <a:lstStyle/>
          <a:p>
            <a:pPr marL="0" indent="0">
              <a:lnSpc>
                <a:spcPts val="1300"/>
              </a:lnSpc>
              <a:buNone/>
            </a:pPr>
            <a:r>
              <a:rPr lang="en-US" sz="1000" b="1" dirty="0">
                <a:solidFill>
                  <a:srgbClr val="FFFFFF"/>
                </a:solidFill>
                <a:latin typeface="Segoe UI" pitchFamily="34" charset="0"/>
                <a:ea typeface="Segoe UI" pitchFamily="34" charset="-122"/>
                <a:cs typeface="Segoe UI" pitchFamily="34" charset="-120"/>
              </a:rPr>
              <a:t>• Intended Use Case:
</a:t>
            </a:r>
            <a:r>
              <a:rPr lang="en-US" sz="1000" dirty="0">
                <a:solidFill>
                  <a:srgbClr val="E2E2EC"/>
                </a:solidFill>
                <a:latin typeface="Segoe UI" pitchFamily="34" charset="0"/>
                <a:ea typeface="Segoe UI" pitchFamily="34" charset="-122"/>
                <a:cs typeface="Segoe UI" pitchFamily="34" charset="-120"/>
              </a:rPr>
              <a:t>Provides pricing guidelines for real estate agents in Ames, Iowa and assists buyers in drafting purchase proposals.
</a:t>
            </a:r>
            <a:r>
              <a:rPr lang="en-US" sz="1000" b="1" dirty="0">
                <a:solidFill>
                  <a:srgbClr val="FFFFFF"/>
                </a:solidFill>
                <a:latin typeface="Segoe UI" pitchFamily="34" charset="0"/>
                <a:ea typeface="Segoe UI" pitchFamily="34" charset="-122"/>
                <a:cs typeface="Segoe UI" pitchFamily="34" charset="-120"/>
              </a:rPr>
              <a:t>• Out of Scope:
</a:t>
            </a:r>
            <a:r>
              <a:rPr lang="en-US" sz="1000" dirty="0">
                <a:solidFill>
                  <a:srgbClr val="E2E2EC"/>
                </a:solidFill>
                <a:latin typeface="Segoe UI" pitchFamily="34" charset="0"/>
                <a:ea typeface="Segoe UI" pitchFamily="34" charset="-122"/>
                <a:cs typeface="Segoe UI" pitchFamily="34" charset="-120"/>
              </a:rPr>
              <a:t>Cannot support formal bank appraisals or algorithmic trading systems.
</a:t>
            </a:r>
            <a:r>
              <a:rPr lang="en-US" sz="1000" b="1" dirty="0">
                <a:solidFill>
                  <a:srgbClr val="FFFFFF"/>
                </a:solidFill>
                <a:latin typeface="Segoe UI" pitchFamily="34" charset="0"/>
                <a:ea typeface="Segoe UI" pitchFamily="34" charset="-122"/>
                <a:cs typeface="Segoe UI" pitchFamily="34" charset="-120"/>
              </a:rPr>
              <a:t>• Preprocessing Pipeline:
</a:t>
            </a:r>
            <a:r>
              <a:rPr lang="en-US" sz="1000" dirty="0">
                <a:solidFill>
                  <a:srgbClr val="E2E2EC"/>
                </a:solidFill>
                <a:latin typeface="Segoe UI" pitchFamily="34" charset="0"/>
                <a:ea typeface="Segoe UI" pitchFamily="34" charset="-122"/>
                <a:cs typeface="Segoe UI" pitchFamily="34" charset="-120"/>
              </a:rPr>
              <a:t>Dropped columns with &gt;80% nulls, median/mode imputation, ordinal/one-hot encoding, and target log-transformation.
</a:t>
            </a:r>
            <a:r>
              <a:rPr lang="en-US" sz="1000" b="1" dirty="0">
                <a:solidFill>
                  <a:srgbClr val="FFFFFF"/>
                </a:solidFill>
                <a:latin typeface="Segoe UI" pitchFamily="34" charset="0"/>
                <a:ea typeface="Segoe UI" pitchFamily="34" charset="-122"/>
                <a:cs typeface="Segoe UI" pitchFamily="34" charset="-120"/>
              </a:rPr>
              <a:t>• Limits:
</a:t>
            </a:r>
            <a:r>
              <a:rPr lang="en-US" sz="1000" dirty="0">
                <a:solidFill>
                  <a:srgbClr val="E2E2EC"/>
                </a:solidFill>
                <a:latin typeface="Segoe UI" pitchFamily="34" charset="0"/>
                <a:ea typeface="Segoe UI" pitchFamily="34" charset="-122"/>
                <a:cs typeface="Segoe UI" pitchFamily="34" charset="-120"/>
              </a:rPr>
              <a:t>Ames-specific. Restrained to 2006–2010 market dynamics. High-end properties are underrepresented.</a:t>
            </a:r>
            <a:endParaRPr lang="en-US" sz="1000" dirty="0"/>
          </a:p>
        </p:txBody>
      </p:sp>
      <p:sp>
        <p:nvSpPr>
          <p:cNvPr id="7" name="Shape 5"/>
          <p:cNvSpPr/>
          <p:nvPr/>
        </p:nvSpPr>
        <p:spPr>
          <a:xfrm>
            <a:off x="6035040" y="1371600"/>
            <a:ext cx="5577840" cy="4389120"/>
          </a:xfrm>
          <a:prstGeom prst="rect">
            <a:avLst/>
          </a:prstGeom>
          <a:solidFill>
            <a:srgbClr val="3E211C"/>
          </a:solidFill>
          <a:ln w="25400">
            <a:solidFill>
              <a:srgbClr val="FF7E5F"/>
            </a:solidFill>
            <a:prstDash val="solid"/>
          </a:ln>
        </p:spPr>
      </p:sp>
      <p:sp>
        <p:nvSpPr>
          <p:cNvPr id="8" name="Text 6"/>
          <p:cNvSpPr/>
          <p:nvPr/>
        </p:nvSpPr>
        <p:spPr>
          <a:xfrm>
            <a:off x="6309360" y="1554480"/>
            <a:ext cx="5029200" cy="274320"/>
          </a:xfrm>
          <a:prstGeom prst="rect">
            <a:avLst/>
          </a:prstGeom>
          <a:noFill/>
          <a:ln/>
        </p:spPr>
        <p:txBody>
          <a:bodyPr wrap="square" rtlCol="0" anchor="ctr"/>
          <a:lstStyle/>
          <a:p>
            <a:pPr marL="0" indent="0">
              <a:buNone/>
            </a:pPr>
            <a:r>
              <a:rPr lang="en-US" sz="1300" b="1" dirty="0">
                <a:solidFill>
                  <a:srgbClr val="FF7E5F"/>
                </a:solidFill>
                <a:latin typeface="Trebuchet MS" pitchFamily="34" charset="0"/>
                <a:ea typeface="Trebuchet MS" pitchFamily="34" charset="-122"/>
                <a:cs typeface="Trebuchet MS" pitchFamily="34" charset="-120"/>
              </a:rPr>
              <a:t>ETHICAL REFLECTION: ALGORITHMIC REDLINING</a:t>
            </a:r>
            <a:endParaRPr lang="en-US" sz="1300" dirty="0"/>
          </a:p>
        </p:txBody>
      </p:sp>
      <p:sp>
        <p:nvSpPr>
          <p:cNvPr id="9" name="Text 7"/>
          <p:cNvSpPr/>
          <p:nvPr/>
        </p:nvSpPr>
        <p:spPr>
          <a:xfrm>
            <a:off x="6309360" y="1920240"/>
            <a:ext cx="5029200" cy="3657600"/>
          </a:xfrm>
          <a:prstGeom prst="rect">
            <a:avLst/>
          </a:prstGeom>
          <a:noFill/>
          <a:ln/>
        </p:spPr>
        <p:txBody>
          <a:bodyPr wrap="square" rtlCol="0" anchor="t"/>
          <a:lstStyle/>
          <a:p>
            <a:pPr marL="0" indent="0">
              <a:lnSpc>
                <a:spcPts val="1300"/>
              </a:lnSpc>
              <a:buNone/>
            </a:pPr>
            <a:r>
              <a:rPr lang="en-US" sz="1000" b="1" dirty="0">
                <a:solidFill>
                  <a:srgbClr val="FFFFFF"/>
                </a:solidFill>
                <a:latin typeface="Segoe UI" pitchFamily="34" charset="0"/>
                <a:ea typeface="Segoe UI" pitchFamily="34" charset="-122"/>
                <a:cs typeface="Segoe UI" pitchFamily="34" charset="-120"/>
              </a:rPr>
              <a:t>• Location as a Proxy:
</a:t>
            </a:r>
            <a:r>
              <a:rPr lang="en-US" sz="1000" dirty="0">
                <a:solidFill>
                  <a:srgbClr val="E2E2EC"/>
                </a:solidFill>
                <a:latin typeface="Segoe UI" pitchFamily="34" charset="0"/>
                <a:ea typeface="Segoe UI" pitchFamily="34" charset="-122"/>
                <a:cs typeface="Segoe UI" pitchFamily="34" charset="-120"/>
              </a:rPr>
              <a:t>No racial, ethnic, or demographic indicators exist in the training dataset. However, neighborhood dummy variables account for 5 of the top 8 Ridge coefficients.
</a:t>
            </a:r>
            <a:r>
              <a:rPr lang="en-US" sz="1000" b="1" dirty="0">
                <a:solidFill>
                  <a:srgbClr val="FFFFFF"/>
                </a:solidFill>
                <a:latin typeface="Segoe UI" pitchFamily="34" charset="0"/>
                <a:ea typeface="Segoe UI" pitchFamily="34" charset="-122"/>
                <a:cs typeface="Segoe UI" pitchFamily="34" charset="-120"/>
              </a:rPr>
              <a:t>• Redlining Risk:
If specific Ames neighborhoods historically suffered from systemic segregation or economic redlining, the model automatically encodes these price suppressions. Deploying it unchecked will perpetuate historical under-valuations, disadvantage sellers, and restrict equity gains in marginalized areas.
</a:t>
            </a:r>
            <a:r>
              <a:rPr lang="en-US" sz="1000" b="1" dirty="0">
                <a:solidFill>
                  <a:srgbClr val="FF7E5F"/>
                </a:solidFill>
                <a:latin typeface="Segoe UI" pitchFamily="34" charset="0"/>
                <a:ea typeface="Segoe UI" pitchFamily="34" charset="-122"/>
                <a:cs typeface="Segoe UI" pitchFamily="34" charset="-120"/>
              </a:rPr>
              <a:t>• Mitigation Recommendation:
</a:t>
            </a:r>
            <a:r>
              <a:rPr lang="en-US" sz="1000" dirty="0">
                <a:solidFill>
                  <a:srgbClr val="E2E2EC"/>
                </a:solidFill>
                <a:latin typeface="Segoe UI" pitchFamily="34" charset="0"/>
                <a:ea typeface="Segoe UI" pitchFamily="34" charset="-122"/>
                <a:cs typeface="Segoe UI" pitchFamily="34" charset="-120"/>
              </a:rPr>
              <a:t>Never treat estimates as absolute. Present predictions as a ±$25,298 range (1 RMSE) and enforce manual human audits for properties deviating &gt;30% from local baseline averages.</a:t>
            </a:r>
            <a:endParaRPr lang="en-US" sz="1000" dirty="0"/>
          </a:p>
        </p:txBody>
      </p:sp>
      <p:sp>
        <p:nvSpPr>
          <p:cNvPr id="10"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0E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182880"/>
          </a:xfrm>
          <a:prstGeom prst="rect">
            <a:avLst/>
          </a:prstGeom>
          <a:noFill/>
          <a:ln/>
        </p:spPr>
        <p:txBody>
          <a:bodyPr wrap="square" rtlCol="0" anchor="ctr"/>
          <a:lstStyle/>
          <a:p>
            <a:pPr marL="0" indent="0">
              <a:buNone/>
            </a:pPr>
            <a:r>
              <a:rPr lang="en-US" sz="900" b="1" kern="0" spc="250" dirty="0">
                <a:solidFill>
                  <a:srgbClr val="FF7E5F"/>
                </a:solidFill>
                <a:latin typeface="Trebuchet MS" pitchFamily="34" charset="0"/>
                <a:ea typeface="Trebuchet MS" pitchFamily="34" charset="-122"/>
                <a:cs typeface="Trebuchet MS" pitchFamily="34" charset="-120"/>
              </a:rPr>
              <a:t>AI &amp; DATA SCIENCE BASICS — CAPSTONE PRESENTATION</a:t>
            </a:r>
            <a:endParaRPr lang="en-US" sz="900" dirty="0"/>
          </a:p>
        </p:txBody>
      </p:sp>
      <p:sp>
        <p:nvSpPr>
          <p:cNvPr id="3" name="Text 1"/>
          <p:cNvSpPr/>
          <p:nvPr/>
        </p:nvSpPr>
        <p:spPr>
          <a:xfrm>
            <a:off x="548640" y="548640"/>
            <a:ext cx="10058400" cy="457200"/>
          </a:xfrm>
          <a:prstGeom prst="rect">
            <a:avLst/>
          </a:prstGeom>
          <a:noFill/>
          <a:ln/>
        </p:spPr>
        <p:txBody>
          <a:bodyPr wrap="square" rtlCol="0" anchor="ctr"/>
          <a:lstStyle/>
          <a:p>
            <a:pPr marL="0" indent="0">
              <a:buNone/>
            </a:pPr>
            <a:r>
              <a:rPr lang="en-US" sz="2400" b="1" dirty="0">
                <a:solidFill>
                  <a:srgbClr val="FFFFFE"/>
                </a:solidFill>
                <a:latin typeface="Trebuchet MS" pitchFamily="34" charset="0"/>
                <a:ea typeface="Trebuchet MS" pitchFamily="34" charset="-122"/>
                <a:cs typeface="Trebuchet MS" pitchFamily="34" charset="-120"/>
              </a:rPr>
              <a:t>Conclusions &amp; Operational Guidelines</a:t>
            </a:r>
            <a:endParaRPr lang="en-US" sz="2400" dirty="0"/>
          </a:p>
        </p:txBody>
      </p:sp>
      <p:sp>
        <p:nvSpPr>
          <p:cNvPr id="4" name="Shape 2"/>
          <p:cNvSpPr/>
          <p:nvPr/>
        </p:nvSpPr>
        <p:spPr>
          <a:xfrm>
            <a:off x="548640" y="1051560"/>
            <a:ext cx="11064240" cy="18288"/>
          </a:xfrm>
          <a:prstGeom prst="rect">
            <a:avLst/>
          </a:prstGeom>
          <a:solidFill>
            <a:srgbClr val="FF7E5F"/>
          </a:solidFill>
          <a:ln/>
        </p:spPr>
      </p:sp>
      <p:sp>
        <p:nvSpPr>
          <p:cNvPr id="5" name="Text 3"/>
          <p:cNvSpPr/>
          <p:nvPr/>
        </p:nvSpPr>
        <p:spPr>
          <a:xfrm>
            <a:off x="548640" y="1371600"/>
            <a:ext cx="5120640" cy="274320"/>
          </a:xfrm>
          <a:prstGeom prst="rect">
            <a:avLst/>
          </a:prstGeom>
          <a:noFill/>
          <a:ln/>
        </p:spPr>
        <p:txBody>
          <a:bodyPr wrap="square" rtlCol="0" anchor="ctr"/>
          <a:lstStyle/>
          <a:p>
            <a:pPr marL="0" indent="0">
              <a:buNone/>
            </a:pPr>
            <a:r>
              <a:rPr lang="en-US" sz="1300" b="1" dirty="0">
                <a:solidFill>
                  <a:srgbClr val="FF7E5F"/>
                </a:solidFill>
                <a:latin typeface="Trebuchet MS" pitchFamily="34" charset="0"/>
                <a:ea typeface="Trebuchet MS" pitchFamily="34" charset="-122"/>
                <a:cs typeface="Trebuchet MS" pitchFamily="34" charset="-120"/>
              </a:rPr>
              <a:t>PROJECT CONCLUSION &amp; SUCCESS AUDIT</a:t>
            </a:r>
            <a:endParaRPr lang="en-US" sz="1300" dirty="0"/>
          </a:p>
        </p:txBody>
      </p:sp>
      <p:sp>
        <p:nvSpPr>
          <p:cNvPr id="6" name="Text 4"/>
          <p:cNvSpPr/>
          <p:nvPr/>
        </p:nvSpPr>
        <p:spPr>
          <a:xfrm>
            <a:off x="548640" y="1828800"/>
            <a:ext cx="5120640" cy="3931920"/>
          </a:xfrm>
          <a:prstGeom prst="rect">
            <a:avLst/>
          </a:prstGeom>
          <a:noFill/>
          <a:ln/>
        </p:spPr>
        <p:txBody>
          <a:bodyPr wrap="square" rtlCol="0" anchor="t"/>
          <a:lstStyle/>
          <a:p>
            <a:pPr marL="0" indent="0">
              <a:lnSpc>
                <a:spcPts val="1400"/>
              </a:lnSpc>
              <a:buNone/>
            </a:pPr>
            <a:r>
              <a:rPr lang="en-US" sz="1050" b="1" dirty="0">
                <a:solidFill>
                  <a:srgbClr val="FFFFFF"/>
                </a:solidFill>
                <a:latin typeface="Segoe UI" pitchFamily="34" charset="0"/>
                <a:ea typeface="Segoe UI" pitchFamily="34" charset="-122"/>
                <a:cs typeface="Segoe UI" pitchFamily="34" charset="-120"/>
              </a:rPr>
              <a:t>• Targets Surpassed:
</a:t>
            </a:r>
            <a:r>
              <a:rPr lang="en-US" sz="1050" dirty="0">
                <a:solidFill>
                  <a:srgbClr val="E2E2EC"/>
                </a:solidFill>
                <a:latin typeface="Segoe UI" pitchFamily="34" charset="0"/>
                <a:ea typeface="Segoe UI" pitchFamily="34" charset="-122"/>
                <a:cs typeface="Segoe UI" pitchFamily="34" charset="-120"/>
              </a:rPr>
              <a:t>The Ridge model met all evaluation goals: R² (0.917 vs. 0.85 target), RMSE ($25,298 vs. $30,000 target), and MAPE (9.8% vs. 15% target).
</a:t>
            </a:r>
            <a:r>
              <a:rPr lang="en-US" sz="1050" b="1" dirty="0">
                <a:solidFill>
                  <a:srgbClr val="FFFFFF"/>
                </a:solidFill>
                <a:latin typeface="Segoe UI" pitchFamily="34" charset="0"/>
                <a:ea typeface="Segoe UI" pitchFamily="34" charset="-122"/>
                <a:cs typeface="Segoe UI" pitchFamily="34" charset="-120"/>
              </a:rPr>
              <a:t>• Ridge Justification:
A regularized linear Ridge model beats complex tree structures by L2-constraining highly correlated one-hot feature expansions.
• Location Rule:
</a:t>
            </a:r>
            <a:r>
              <a:rPr lang="en-US" sz="1050" dirty="0">
                <a:solidFill>
                  <a:srgbClr val="E2E2EC"/>
                </a:solidFill>
                <a:latin typeface="Segoe UI" pitchFamily="34" charset="0"/>
                <a:ea typeface="Segoe UI" pitchFamily="34" charset="-122"/>
                <a:cs typeface="Segoe UI" pitchFamily="34" charset="-120"/>
              </a:rPr>
              <a:t>Location remains the dominant coefficient factor, outranking age, basement size, and materials combined.</a:t>
            </a:r>
            <a:endParaRPr lang="en-US" sz="1050" dirty="0"/>
          </a:p>
        </p:txBody>
      </p:sp>
      <p:sp>
        <p:nvSpPr>
          <p:cNvPr id="7" name="Shape 5"/>
          <p:cNvSpPr/>
          <p:nvPr/>
        </p:nvSpPr>
        <p:spPr>
          <a:xfrm>
            <a:off x="5943600" y="1371600"/>
            <a:ext cx="18288" cy="4389120"/>
          </a:xfrm>
          <a:prstGeom prst="rect">
            <a:avLst/>
          </a:prstGeom>
          <a:solidFill>
            <a:srgbClr val="2E2B43"/>
          </a:solidFill>
          <a:ln/>
        </p:spPr>
      </p:sp>
      <p:sp>
        <p:nvSpPr>
          <p:cNvPr id="8" name="Text 6"/>
          <p:cNvSpPr/>
          <p:nvPr/>
        </p:nvSpPr>
        <p:spPr>
          <a:xfrm>
            <a:off x="6217920" y="1371600"/>
            <a:ext cx="5394960" cy="274320"/>
          </a:xfrm>
          <a:prstGeom prst="rect">
            <a:avLst/>
          </a:prstGeom>
          <a:noFill/>
          <a:ln/>
        </p:spPr>
        <p:txBody>
          <a:bodyPr wrap="square" rtlCol="0" anchor="ctr"/>
          <a:lstStyle/>
          <a:p>
            <a:pPr marL="0" indent="0">
              <a:buNone/>
            </a:pPr>
            <a:r>
              <a:rPr lang="en-US" sz="1300" b="1" dirty="0">
                <a:solidFill>
                  <a:srgbClr val="FF7E5F"/>
                </a:solidFill>
                <a:latin typeface="Trebuchet MS" pitchFamily="34" charset="0"/>
                <a:ea typeface="Trebuchet MS" pitchFamily="34" charset="-122"/>
                <a:cs typeface="Trebuchet MS" pitchFamily="34" charset="-120"/>
              </a:rPr>
              <a:t>OPERATIONAL ROADMAP &amp; FUTURE WORK</a:t>
            </a:r>
            <a:endParaRPr lang="en-US" sz="1300" dirty="0"/>
          </a:p>
        </p:txBody>
      </p:sp>
      <p:sp>
        <p:nvSpPr>
          <p:cNvPr id="9" name="Text 7"/>
          <p:cNvSpPr/>
          <p:nvPr/>
        </p:nvSpPr>
        <p:spPr>
          <a:xfrm>
            <a:off x="6217920" y="1828800"/>
            <a:ext cx="5394960" cy="3931920"/>
          </a:xfrm>
          <a:prstGeom prst="rect">
            <a:avLst/>
          </a:prstGeom>
          <a:noFill/>
          <a:ln/>
        </p:spPr>
        <p:txBody>
          <a:bodyPr wrap="square" rtlCol="0" anchor="t"/>
          <a:lstStyle/>
          <a:p>
            <a:pPr marL="0" indent="0">
              <a:lnSpc>
                <a:spcPts val="1100"/>
              </a:lnSpc>
              <a:buNone/>
            </a:pPr>
            <a:r>
              <a:rPr lang="en-US" sz="1020" b="1" dirty="0">
                <a:solidFill>
                  <a:srgbClr val="FFFFFF"/>
                </a:solidFill>
                <a:latin typeface="Segoe UI" pitchFamily="34" charset="0"/>
                <a:ea typeface="Segoe UI" pitchFamily="34" charset="-122"/>
                <a:cs typeface="Segoe UI" pitchFamily="34" charset="-120"/>
              </a:rPr>
              <a:t>• Pricing Assistant Deployment:
</a:t>
            </a:r>
            <a:r>
              <a:rPr lang="en-US" sz="1020" dirty="0">
                <a:solidFill>
                  <a:srgbClr val="E2E2EC"/>
                </a:solidFill>
                <a:latin typeface="Segoe UI" pitchFamily="34" charset="0"/>
                <a:ea typeface="Segoe UI" pitchFamily="34" charset="-122"/>
                <a:cs typeface="Segoe UI" pitchFamily="34" charset="-120"/>
              </a:rPr>
              <a:t>Real estate agents input specifications. Model outputs predicted range. Agents manually adjust based on school quality updates, curb appeal, and local buyer sentiment.
</a:t>
            </a:r>
            <a:r>
              <a:rPr lang="en-US" sz="1020" b="1" dirty="0">
                <a:solidFill>
                  <a:srgbClr val="FFFFFF"/>
                </a:solidFill>
                <a:latin typeface="Segoe UI" pitchFamily="34" charset="0"/>
                <a:ea typeface="Segoe UI" pitchFamily="34" charset="-122"/>
                <a:cs typeface="Segoe UI" pitchFamily="34" charset="-120"/>
              </a:rPr>
              <a:t>• Retraining to Address Drift:
The model is trained on 2006–2010 sales. Retraining on 2020–2025 listings is required to address structural market drift.
• Coordinates &amp; Spatial Models:
Incorporate latitude/longitude and physical proximity to green spaces to replace coarse neighborhood indicator variables.
• Geographic Generalizability:
</a:t>
            </a:r>
            <a:r>
              <a:rPr lang="en-US" sz="1020" dirty="0">
                <a:solidFill>
                  <a:srgbClr val="E2E2EC"/>
                </a:solidFill>
                <a:latin typeface="Segoe UI" pitchFamily="34" charset="0"/>
                <a:ea typeface="Segoe UI" pitchFamily="34" charset="-122"/>
                <a:cs typeface="Segoe UI" pitchFamily="34" charset="-120"/>
              </a:rPr>
              <a:t>Test model generalization capabilities across other Midwestern hubs (Omaha, Des Moines).</a:t>
            </a:r>
            <a:endParaRPr lang="en-US" sz="1020" dirty="0"/>
          </a:p>
        </p:txBody>
      </p:sp>
      <p:sp>
        <p:nvSpPr>
          <p:cNvPr id="10"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0E17"/>
        </a:solidFill>
        <a:effectLst/>
      </p:bgPr>
    </p:bg>
    <p:spTree>
      <p:nvGrpSpPr>
        <p:cNvPr id="1" name=""/>
        <p:cNvGrpSpPr/>
        <p:nvPr/>
      </p:nvGrpSpPr>
      <p:grpSpPr>
        <a:xfrm>
          <a:off x="0" y="0"/>
          <a:ext cx="0" cy="0"/>
          <a:chOff x="0" y="0"/>
          <a:chExt cx="0" cy="0"/>
        </a:xfrm>
      </p:grpSpPr>
      <p:sp>
        <p:nvSpPr>
          <p:cNvPr id="2" name="Shape 0"/>
          <p:cNvSpPr/>
          <p:nvPr/>
        </p:nvSpPr>
        <p:spPr>
          <a:xfrm>
            <a:off x="731520" y="1371600"/>
            <a:ext cx="73152" cy="3657600"/>
          </a:xfrm>
          <a:prstGeom prst="rect">
            <a:avLst/>
          </a:prstGeom>
          <a:solidFill>
            <a:srgbClr val="FF7E5F"/>
          </a:solidFill>
          <a:ln/>
        </p:spPr>
      </p:sp>
      <p:sp>
        <p:nvSpPr>
          <p:cNvPr id="4" name="Text 2"/>
          <p:cNvSpPr/>
          <p:nvPr/>
        </p:nvSpPr>
        <p:spPr>
          <a:xfrm>
            <a:off x="1097280" y="2011680"/>
            <a:ext cx="4572000" cy="731520"/>
          </a:xfrm>
          <a:prstGeom prst="rect">
            <a:avLst/>
          </a:prstGeom>
          <a:noFill/>
          <a:ln/>
        </p:spPr>
        <p:txBody>
          <a:bodyPr wrap="square" rtlCol="0" anchor="ctr"/>
          <a:lstStyle/>
          <a:p>
            <a:pPr marL="0" indent="0">
              <a:buNone/>
            </a:pPr>
            <a:r>
              <a:rPr lang="en-US" sz="4800" b="1" dirty="0">
                <a:solidFill>
                  <a:srgbClr val="FFFFFF"/>
                </a:solidFill>
                <a:latin typeface="Trebuchet MS" pitchFamily="34" charset="0"/>
                <a:ea typeface="Trebuchet MS" pitchFamily="34" charset="-122"/>
                <a:cs typeface="Trebuchet MS" pitchFamily="34" charset="-120"/>
              </a:rPr>
              <a:t>THANK YOU</a:t>
            </a:r>
            <a:endParaRPr lang="en-US" sz="4800" dirty="0"/>
          </a:p>
        </p:txBody>
      </p:sp>
      <p:sp>
        <p:nvSpPr>
          <p:cNvPr id="5" name="Shape 3"/>
          <p:cNvSpPr/>
          <p:nvPr/>
        </p:nvSpPr>
        <p:spPr>
          <a:xfrm>
            <a:off x="1097280" y="2834640"/>
            <a:ext cx="3657600" cy="18288"/>
          </a:xfrm>
          <a:prstGeom prst="rect">
            <a:avLst/>
          </a:prstGeom>
          <a:solidFill>
            <a:srgbClr val="FF7E5F"/>
          </a:solidFill>
          <a:ln/>
        </p:spPr>
      </p:sp>
      <p:sp>
        <p:nvSpPr>
          <p:cNvPr id="6" name="Text 4"/>
          <p:cNvSpPr/>
          <p:nvPr/>
        </p:nvSpPr>
        <p:spPr>
          <a:xfrm>
            <a:off x="1097280" y="3108960"/>
            <a:ext cx="4572000" cy="731520"/>
          </a:xfrm>
          <a:prstGeom prst="rect">
            <a:avLst/>
          </a:prstGeom>
          <a:noFill/>
          <a:ln/>
        </p:spPr>
        <p:txBody>
          <a:bodyPr wrap="square" rtlCol="0" anchor="ctr"/>
          <a:lstStyle/>
          <a:p>
            <a:pPr marL="0" indent="0">
              <a:buNone/>
            </a:pPr>
            <a:r>
              <a:rPr lang="en-US" sz="1100" b="1" dirty="0">
                <a:solidFill>
                  <a:srgbClr val="A7A9BE"/>
                </a:solidFill>
                <a:latin typeface="Segoe UI" pitchFamily="34" charset="0"/>
                <a:ea typeface="Segoe UI" pitchFamily="34" charset="-122"/>
                <a:cs typeface="Segoe UI" pitchFamily="34" charset="-120"/>
              </a:rPr>
              <a:t>GitHub Repository: github.com/ehtp/house-price-prediction-regression</a:t>
            </a:r>
            <a:endParaRPr lang="en-US" sz="1100" dirty="0"/>
          </a:p>
        </p:txBody>
      </p:sp>
      <p:sp>
        <p:nvSpPr>
          <p:cNvPr id="7" name="Shape 5"/>
          <p:cNvSpPr/>
          <p:nvPr/>
        </p:nvSpPr>
        <p:spPr>
          <a:xfrm>
            <a:off x="6035040" y="1371600"/>
            <a:ext cx="18288" cy="3657600"/>
          </a:xfrm>
          <a:prstGeom prst="rect">
            <a:avLst/>
          </a:prstGeom>
          <a:solidFill>
            <a:srgbClr val="2E2B43"/>
          </a:solidFill>
          <a:ln/>
        </p:spPr>
      </p:sp>
      <p:sp>
        <p:nvSpPr>
          <p:cNvPr id="8" name="Text 6"/>
          <p:cNvSpPr/>
          <p:nvPr/>
        </p:nvSpPr>
        <p:spPr>
          <a:xfrm>
            <a:off x="6400800" y="1371600"/>
            <a:ext cx="5120640" cy="274320"/>
          </a:xfrm>
          <a:prstGeom prst="rect">
            <a:avLst/>
          </a:prstGeom>
          <a:noFill/>
          <a:ln/>
        </p:spPr>
        <p:txBody>
          <a:bodyPr wrap="square" rtlCol="0" anchor="ctr"/>
          <a:lstStyle/>
          <a:p>
            <a:pPr marL="0" indent="0">
              <a:buNone/>
            </a:pPr>
            <a:r>
              <a:rPr lang="en-US" sz="1100" b="1" kern="0" spc="100" dirty="0">
                <a:solidFill>
                  <a:srgbClr val="FF7E5F"/>
                </a:solidFill>
                <a:latin typeface="Trebuchet MS" pitchFamily="34" charset="0"/>
                <a:ea typeface="Trebuchet MS" pitchFamily="34" charset="-122"/>
                <a:cs typeface="Trebuchet MS" pitchFamily="34" charset="-120"/>
              </a:rPr>
              <a:t>PROJECT SUCCESS AUDIT SUMMARY</a:t>
            </a:r>
            <a:endParaRPr lang="en-US" sz="1100" dirty="0"/>
          </a:p>
        </p:txBody>
      </p:sp>
      <p:sp>
        <p:nvSpPr>
          <p:cNvPr id="9" name="Text 7"/>
          <p:cNvSpPr/>
          <p:nvPr/>
        </p:nvSpPr>
        <p:spPr>
          <a:xfrm>
            <a:off x="6400800" y="1737360"/>
            <a:ext cx="5120640" cy="3291840"/>
          </a:xfrm>
          <a:prstGeom prst="rect">
            <a:avLst/>
          </a:prstGeom>
          <a:noFill/>
          <a:ln/>
        </p:spPr>
        <p:txBody>
          <a:bodyPr wrap="square" rtlCol="0" anchor="t"/>
          <a:lstStyle/>
          <a:p>
            <a:pPr marL="0" indent="0">
              <a:lnSpc>
                <a:spcPts val="1200"/>
              </a:lnSpc>
              <a:buNone/>
            </a:pPr>
            <a:r>
              <a:rPr lang="en-US" sz="1050" dirty="0">
                <a:solidFill>
                  <a:srgbClr val="E2E2EC"/>
                </a:solidFill>
                <a:latin typeface="Segoe UI" pitchFamily="34" charset="0"/>
                <a:ea typeface="Segoe UI" pitchFamily="34" charset="-122"/>
                <a:cs typeface="Segoe UI" pitchFamily="34" charset="-120"/>
              </a:rPr>
              <a:t>•  Winner: Ridge Regression (α=10) with log target transform.</a:t>
            </a:r>
            <a:endParaRPr lang="en-US" sz="1050" dirty="0"/>
          </a:p>
          <a:p>
            <a:pPr marL="0" indent="0">
              <a:lnSpc>
                <a:spcPts val="1200"/>
              </a:lnSpc>
              <a:buNone/>
            </a:pPr>
            <a:endParaRPr lang="en-US" sz="1050" dirty="0"/>
          </a:p>
          <a:p>
            <a:pPr marL="0" indent="0">
              <a:lnSpc>
                <a:spcPts val="1200"/>
              </a:lnSpc>
              <a:buNone/>
            </a:pPr>
            <a:r>
              <a:rPr lang="en-US" sz="1050" dirty="0">
                <a:solidFill>
                  <a:srgbClr val="E2E2EC"/>
                </a:solidFill>
                <a:latin typeface="Segoe UI" pitchFamily="34" charset="0"/>
                <a:ea typeface="Segoe UI" pitchFamily="34" charset="-122"/>
                <a:cs typeface="Segoe UI" pitchFamily="34" charset="-120"/>
              </a:rPr>
              <a:t>•  Test Set R² = 0.917 (Met the course threshold of ≥ 0.85).</a:t>
            </a:r>
            <a:endParaRPr lang="en-US" sz="1050" dirty="0"/>
          </a:p>
          <a:p>
            <a:pPr marL="0" indent="0">
              <a:lnSpc>
                <a:spcPts val="1200"/>
              </a:lnSpc>
              <a:buNone/>
            </a:pPr>
            <a:endParaRPr lang="en-US" sz="1050" dirty="0"/>
          </a:p>
          <a:p>
            <a:pPr marL="0" indent="0">
              <a:lnSpc>
                <a:spcPts val="1200"/>
              </a:lnSpc>
              <a:buNone/>
            </a:pPr>
            <a:r>
              <a:rPr lang="en-US" sz="1050" dirty="0">
                <a:solidFill>
                  <a:srgbClr val="E2E2EC"/>
                </a:solidFill>
                <a:latin typeface="Segoe UI" pitchFamily="34" charset="0"/>
                <a:ea typeface="Segoe UI" pitchFamily="34" charset="-122"/>
                <a:cs typeface="Segoe UI" pitchFamily="34" charset="-120"/>
              </a:rPr>
              <a:t>•  Test Set RMSE = $25,298 (Met the course threshold of ≤ $30K).</a:t>
            </a:r>
            <a:endParaRPr lang="en-US" sz="1050" dirty="0"/>
          </a:p>
          <a:p>
            <a:pPr marL="0" indent="0">
              <a:lnSpc>
                <a:spcPts val="1200"/>
              </a:lnSpc>
              <a:buNone/>
            </a:pPr>
            <a:endParaRPr lang="en-US" sz="1050" dirty="0"/>
          </a:p>
          <a:p>
            <a:pPr marL="0" indent="0">
              <a:lnSpc>
                <a:spcPts val="1200"/>
              </a:lnSpc>
              <a:buNone/>
            </a:pPr>
            <a:r>
              <a:rPr lang="en-US" sz="1050" dirty="0">
                <a:solidFill>
                  <a:srgbClr val="E2E2EC"/>
                </a:solidFill>
                <a:latin typeface="Segoe UI" pitchFamily="34" charset="0"/>
                <a:ea typeface="Segoe UI" pitchFamily="34" charset="-122"/>
                <a:cs typeface="Segoe UI" pitchFamily="34" charset="-120"/>
              </a:rPr>
              <a:t>•  Test Set MAPE = 9.8% (Met the course threshold of ≤ 15%).</a:t>
            </a:r>
            <a:endParaRPr lang="en-US" sz="1050" dirty="0"/>
          </a:p>
          <a:p>
            <a:pPr marL="0" indent="0">
              <a:lnSpc>
                <a:spcPts val="1200"/>
              </a:lnSpc>
              <a:buNone/>
            </a:pPr>
            <a:endParaRPr lang="en-US" sz="1050" dirty="0"/>
          </a:p>
          <a:p>
            <a:pPr marL="0" indent="0">
              <a:lnSpc>
                <a:spcPts val="1200"/>
              </a:lnSpc>
              <a:buNone/>
            </a:pPr>
            <a:r>
              <a:rPr lang="en-US" sz="1050" dirty="0">
                <a:solidFill>
                  <a:srgbClr val="E2E2EC"/>
                </a:solidFill>
                <a:latin typeface="Segoe UI" pitchFamily="34" charset="0"/>
                <a:ea typeface="Segoe UI" pitchFamily="34" charset="-122"/>
                <a:cs typeface="Segoe UI" pitchFamily="34" charset="-120"/>
              </a:rPr>
              <a:t>•  Completed SQLite data management and demographic redlining ethical audit.</a:t>
            </a:r>
            <a:endParaRPr lang="en-US" sz="1050" dirty="0"/>
          </a:p>
        </p:txBody>
      </p:sp>
      <p:sp>
        <p:nvSpPr>
          <p:cNvPr id="10" name="Text 10"/>
          <p:cNvSpPr/>
          <p:nvPr/>
        </p:nvSpPr>
        <p:spPr>
          <a:xfrm>
            <a:off x="548640" y="6492240"/>
            <a:ext cx="11064240" cy="274320"/>
          </a:xfrm>
          <a:prstGeom prst="rect">
            <a:avLst/>
          </a:prstGeom>
          <a:noFill/>
          <a:ln/>
        </p:spPr>
        <p:txBody>
          <a:bodyPr wrap="square" rtlCol="0" anchor="ctr"/>
          <a:lstStyle/>
          <a:p>
            <a:pPr marL="0" indent="0" algn="l">
              <a:buNone/>
            </a:pPr>
            <a:r>
              <a:rPr lang="en-US" sz="900" dirty="0">
                <a:solidFill>
                  <a:srgbClr val="A7A9BE"/>
                </a:solidFill>
                <a:latin typeface="Segoe UI" pitchFamily="34" charset="0"/>
                <a:ea typeface="Segoe UI" pitchFamily="34" charset="-122"/>
                <a:cs typeface="Segoe UI" pitchFamily="34" charset="-120"/>
              </a:rPr>
              <a:t>House Price Prediction — Regression Capstone | Slide 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2520</Words>
  <Application>Microsoft Office PowerPoint</Application>
  <PresentationFormat>Personnalisé</PresentationFormat>
  <Paragraphs>246</Paragraphs>
  <Slides>16</Slides>
  <Notes>16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Calibri</vt:lpstr>
      <vt:lpstr>Segoe UI</vt:lpstr>
      <vt:lpstr>Trebuchet MS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elasraoui abdelmoghit</cp:lastModifiedBy>
  <cp:revision>5</cp:revision>
  <dcterms:created xsi:type="dcterms:W3CDTF">2026-06-06T20:45:54Z</dcterms:created>
  <dcterms:modified xsi:type="dcterms:W3CDTF">2026-06-19T15:41:47Z</dcterms:modified>
</cp:coreProperties>
</file>